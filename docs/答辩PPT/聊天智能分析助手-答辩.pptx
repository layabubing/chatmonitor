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2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FFFFFF', padding: '0px', position: 'relative', width: '100%', height: '100%' }}&gt;&#10;    {/* 左侧深蓝主视觉带 */}&#10;    &lt;Box style={{&#10;        position: 'absolute', left: 0, top: 0,&#10;        width: 420, height: 720,&#10;        background: 'linear-gradient(160deg, #0E3F8C 0%, #1E4FA8 60%, #3D7BD9 100%)',&#10;        justifyContent: 'center', alignItems: 'center',&#10;        flexDirection: 'column', gap: 12, padding: 40,&#10;    }}&gt;&#10;        &lt;FAIcon name='comments' style={{ fill: '#FFFFFF', width: 72, height: 72, opacity: 0.95 }} /&gt;&#10;        &lt;Text style={{ fontSize: 20, color: '#FFFFFF', opacity: 0.85, letterSpacing: 4 }}&gt;&#10;            群聊信息智能监控与分析系统&#10;        &lt;/Text&gt;&#10;        &lt;Box style={{ width: 120, height: 2, background: '#FFFFFF', opacity: 0.5, marginTop: 8 }} /&gt;&#10;        &lt;Text style={{ fontSize: 15, color: '#FFFFFF', opacity: 0.7, marginTop: 16 }}&gt;&#10;            科创比赛参赛作品&#10;        &lt;/Text&gt;&#10;    &lt;/Box&gt;&#10;&#10;    {/* 右侧标题区 */}&#10;    &lt;Box style={{&#10;        position: 'absolute', left: 420, top: 0,&#10;        width: 860, height: 720,&#10;        padding: '0 80px',&#10;        justifyContent: 'center',&#10;        flexDirection: 'column',&#10;    }}&gt;&#10;        &lt;Text style={{ fontSize: 24, color: '#1E4FA8', fontWeight: 'bold', letterSpacing: 2, marginBottom: 12 }}&gt;&#10;            ChatMonitor&#10;        &lt;/Text&gt;&#10;        &lt;Text style={{ fontSize: 52, color: '#0E3F8C', fontWeight: 'bold', lineHeight: 1.3, marginBottom: 20 }}&gt;&#10;            聊天智能分析助手&#10;        &lt;/Text&gt;&#10;        &lt;Text style={{ fontSize: 22, color: '#4A5568', lineHeight: 1.7, marginBottom: 44 }}&gt;&#10;            面向校园班级与社群的 QQ / 钉钉群聊&#10;            &lt;br /&gt;&#10;            重要信息识别 · 实时提醒 · 自动归档&#10;        &lt;/Text&gt;&#10;        &lt;Box style={{ flexDirection: 'row', gap: 16, marginBottom: 60 }}&gt;&#10;            &lt;Box style={{ background: '#E8EFF8', borderRadius: 20, padding: '8px 20px' }}&gt;&#10;                &lt;Text style={{ fontSize: 15, color: '#1E4FA8' }}&gt;多平台接入&lt;/Text&gt;&#10;            &lt;/Box&gt;&#10;            &lt;Box style={{ background: '#E8EFF8', borderRadius: 20, padding: '8px 20px' }}&gt;&#10;                &lt;Text style={{ fontSize: 15, color: '#1E4FA8' }}&gt;AI 智能判定&lt;/Text&gt;&#10;            &lt;/Box&gt;&#10;            &lt;Box style={{ background: '#E8EFF8', borderRadius: 20, padding: '8px 20px' }}&gt;&#10;                &lt;Text style={{ fontSize: 15, color: '#1E4FA8' }}&gt;毫秒级推送&lt;/Text&gt;&#10;            &lt;/Box&gt;&#10;        &lt;/Box&gt;&#10;        &lt;Box style={{ flexDirection: 'row', gap: 40 }}&gt;&#10;            &lt;Text style={{ fontSize: 15, color: '#8B97A8' }}&gt;参赛者：笺&lt;/Text&gt;&#10;            &lt;Text style={{ fontSize: 15, color: '#8B97A8' }}&gt;2026 年 8 月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60000">
                <a:srgbClr val="1E4FA8"/>
              </a:gs>
              <a:gs pos="100000">
                <a:srgbClr val="3D7BD9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7350" y="2590800"/>
            <a:ext cx="685800" cy="685800"/>
          </a:xfrm>
          <a:prstGeom prst="rect">
            <a:avLst/>
          </a:prstGeom>
        </p:spPr>
      </p:pic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14350" y="3390900"/>
            <a:ext cx="2971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群聊信息智能监控与分析系统</a:t>
            </a:r>
            <a:endParaRPr lang="zh-CN" sz="1500" spc="3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28750" y="3810000"/>
            <a:ext cx="1143000" cy="1905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1428750" y="409575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科创比赛参赛作品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762500" y="1581150"/>
            <a:ext cx="6667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ChatMonitor</a:t>
            </a:r>
            <a:endParaRPr lang="en-US" sz="1800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4762500" y="1971675"/>
            <a:ext cx="6667500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9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聊天智能分析助手</a:t>
            </a:r>
            <a:endParaRPr lang="zh-CN" sz="39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4762500" y="2943225"/>
            <a:ext cx="6667500" cy="857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面向校园班级与社群的</a:t>
            </a:r>
            <a:r>
              <a:rPr lang="en-US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QQ / </a:t>
            </a: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钉钉群聊</a:t>
            </a:r>
            <a:endParaRPr lang="zh-CN" sz="16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重要信息识别</a:t>
            </a:r>
            <a:r>
              <a:rPr lang="en-US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实时提醒</a:t>
            </a:r>
            <a:r>
              <a:rPr lang="en-US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自动归档</a:t>
            </a:r>
            <a:endParaRPr lang="zh-CN" sz="16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762500" y="4219575"/>
            <a:ext cx="1095375" cy="323850"/>
          </a:xfrm>
          <a:prstGeom prst="roundRect">
            <a:avLst>
              <a:gd name="adj" fmla="val 5882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4953000" y="42957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多平台接入</a:t>
            </a:r>
            <a:endParaRPr lang="zh-CN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010275" y="4219575"/>
            <a:ext cx="1143000" cy="323850"/>
          </a:xfrm>
          <a:prstGeom prst="roundRect">
            <a:avLst>
              <a:gd name="adj" fmla="val 5882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6200775" y="4295775"/>
            <a:ext cx="762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智能判定</a:t>
            </a:r>
            <a:endParaRPr lang="zh-CN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305675" y="4219575"/>
            <a:ext cx="1095375" cy="323850"/>
          </a:xfrm>
          <a:prstGeom prst="roundRect">
            <a:avLst>
              <a:gd name="adj" fmla="val 5882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7496175" y="42957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毫秒级推送</a:t>
            </a:r>
            <a:endParaRPr lang="zh-CN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762500" y="511492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125" b="1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制作者：</a:t>
            </a:r>
            <a:r>
              <a:rPr lang="en-US" altLang="zh-CN" sz="1125" b="1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1125" b="1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笺</a:t>
            </a:r>
            <a:r>
              <a:rPr lang="en-US" altLang="zh-CN" sz="1125" b="1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    download</a:t>
            </a:r>
            <a:r>
              <a:rPr lang="zh-CN" altLang="en-US" sz="1125" b="1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中</a:t>
            </a:r>
            <a:endParaRPr lang="zh-CN" altLang="en-US" sz="1125" b="1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4762500" y="5857875"/>
            <a:ext cx="838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sz="1125" b="1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125" b="1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125" b="1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125" b="1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" descr="&lt;Slide style={{ background: '#FFFFFF', padding: '0px', position: 'relative', width: '100%', height: '100%' }}&gt;&#10;    {/* 顶部深蓝条 */}&#10;    &lt;Box style={{&#10;        position: 'absolute', top: 0, left: 0,&#10;        width: 1280, height: 8, background: '#1E4FA8',&#10;    }} /&gt;&#10;&#10;    &lt;Box style={{&#10;        position: 'absolute', left: 100, top: 96,&#10;        width: 1080,&#10;        flexDirection: 'column',&#10;    }}&gt;&#10;        &lt;Text style={{ fontSize: 36, color: '#0E3F8C', fontWeight: 'bold', marginBottom: 12 }}&gt;&#10;            目 录&#10;        &lt;/Text&gt;&#10;        &lt;Text style={{ fontSize: 16, color: '#8B97A8', marginBottom: 48 }}&gt;&#10;            CONTENTS&#10;        &lt;/Text&gt;&#10;&#10;        &lt;Box style={{ flexDirection: 'column', gap: 28 }}&gt;&#10;            {/* 01 */}&#10;            &lt;Box style={{ flexDirection: 'row', alignItems: 'center', gap: 24 }}&gt;&#10;                &lt;Box style={{&#10;                    width: 64, height: 64, borderRadius: 8,&#10;                    background: '#1E4FA8', justifyContent: 'center', alignItems: 'center',&#10;                }}&gt;&#10;                    &lt;Text style={{ fontSize: 28, color: '#FFFFFF', fontWeight: 'bold' }}&gt;01&lt;/Text&gt;&#10;                &lt;/Box&gt;&#10;                &lt;Box&gt;&#10;                    &lt;Text style={{ fontSize: 26, color: '#1A2230', fontWeight: 'bold' }}&gt;项目背景与需求&lt;/Text&gt;&#10;                    &lt;Text style={{ fontSize: 15, color: '#8B97A8', marginTop: 4 }}&gt;群聊信息洪流下的痛点 · 需求分析&lt;/Text&gt;&#10;                &lt;/Box&gt;&#10;            &lt;/Box&gt;&#10;            {/* 02 */}&#10;            &lt;Box style={{ flexDirection: 'row', alignItems: 'center', gap: 24 }}&gt;&#10;                &lt;Box style={{&#10;                    width: 64, height: 64, borderRadius: 8,&#10;                    background: '#3D7BD9', justifyContent: 'center', alignItems: 'center',&#10;                }}&gt;&#10;                    &lt;Text style={{ fontSize: 28, color: '#FFFFFF', fontWeight: 'bold' }}&gt;02&lt;/Text&gt;&#10;                &lt;/Box&gt;&#10;                &lt;Box&gt;&#10;                    &lt;Text style={{ fontSize: 26, color: '#1A2230', fontWeight: 'bold' }}&gt;系统设计与核心技术&lt;/Text&gt;&#10;                    &lt;Text style={{ fontSize: 15, color: '#8B97A8', marginTop: 4 }}&gt;总体架构 · 双重判定 · SSE 推送 · 文件库 · 安全加固&lt;/Text&gt;&#10;                &lt;/Box&gt;&#10;            &lt;/Box&gt;&#10;            {/* 03 */}&#10;            &lt;Box style={{ flexDirection: 'row', alignItems: 'center', gap: 24 }}&gt;&#10;                &lt;Box style={{&#10;                    width: 64, height: 64, borderRadius: 8,&#10;                    background: '#0E3F8C', justifyContent: 'center', alignItems: 'center',&#10;                }}&gt;&#10;                    &lt;Text style={{ fontSize: 28, color: '#FFFFFF', fontWeight: 'bold' }}&gt;03&lt;/Text&gt;&#10;                &lt;/Box&gt;&#10;                &lt;Box&gt;&#10;                    &lt;Text style={{ fontSize: 26, color: '#1A2230', fontWeight: 'bold' }}&gt;创新、验证与展望&lt;/Text&gt;&#10;                    &lt;Text style={{ fontSize: 15, color: '#8B97A8', marginTop: 4 }}&gt;六大创新点 · 44 项测试 · 真实联调 · 应用前景&lt;/Text&gt;&#10;                &lt;/Box&gt;&#10;            &lt;/Box&gt;&#10;        &lt;/Box&gt;&#10;    &lt;/Box&gt;&#10;&#10;    {/* 右下页码 */}&#10;    &lt;Text style={{&#10;        position: 'absolute', right: 60, bottom: 40,&#10;        fontSize: 14, color: '#8B97A8',&#10;    }}&gt;&#10;        2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矩形 1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8" name="矩形 19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52500" y="914400"/>
            <a:ext cx="102870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952500" y="1447800"/>
            <a:ext cx="10287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2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952500" y="20955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1095375" y="2238375"/>
            <a:ext cx="3333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1790700" y="2143125"/>
            <a:ext cx="21240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项目背景与需求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1790700" y="2486025"/>
            <a:ext cx="2124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群聊信息洪流下的痛点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需求分析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952500" y="29718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1095375" y="3114675"/>
            <a:ext cx="3333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790700" y="3019425"/>
            <a:ext cx="31908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系统设计与核心技术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1790700" y="3362325"/>
            <a:ext cx="3190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总体架构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双重判定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SSE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推送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文件库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安全加固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圆角矩形 208"/>
          <p:cNvSpPr/>
          <p:nvPr/>
        </p:nvSpPr>
        <p:spPr>
          <a:xfrm>
            <a:off x="952500" y="38481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1095375" y="3990975"/>
            <a:ext cx="3333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1790700" y="3895725"/>
            <a:ext cx="2857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创新、验证与展望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790700" y="4238625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六大创新点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44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项测试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真实联调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应用前景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4" name="" descr="&lt;Slide style={{ background: '#F7F9FC', padding: '0px', position: 'relative', width: '100%', height: '100%' }}&gt;&#10;    {/* 中央大数字 01 */}&#10;    &lt;Box style={{&#10;        position: 'absolute', left: 96, top: 60,&#10;        width: 1088, height: 600,&#10;        justifyContent: 'center', alignItems: 'center',&#10;        flexDirection: 'column',&#10;    }}&gt;&#10;        &lt;Text style={{&#10;            fontSize: 200, fontWeight: 'bold', color: '#1E4FA8',&#10;            lineHeight: 1, opacity: 0.92, letterSpacing: 8,&#10;        }}&gt;&#10;            01&#10;        &lt;/Text&gt;&#10;        &lt;Box style={{ width: 480, height: 3, background: '#3D7BD9', marginTop: 28, marginBottom: 28 }} /&gt;&#10;        &lt;Text style={{ fontSize: 40, color: '#0E3F8C', fontWeight: 'bold', marginBottom: 12 }}&gt;&#10;            项目背景与需求&#10;        &lt;/Text&gt;&#10;        &lt;Text style={{ fontSize: 18, color: '#4A5568', marginTop: 8 }}&gt;&#10;            校园群聊信息爆炸 → 重要信息被淹没 → 需要智能监控助手&#10;        &lt;/Text&gt;&#10;    &lt;/Box&gt;&#10;&#10;    {/* 左下角标 */}&#10;    &lt;Text style={{&#10;        position: 'absolute', left: 60, bottom: 40,&#10;        fontSize: 14, color: '#8B97A8',&#10;    }}&gt;&#10;        Part 01 · 项目背景与需求&#10;    &lt;/Text&gt;&#10;    {/* 右下页码 */}&#10;    &lt;Text style={{&#10;        position: 'absolute', right: 60, bottom: 40,&#10;        fontSize: 14, color: '#8B97A8',&#10;    }}&gt;&#10;        3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矩形 2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16" name="矩形 215"/>
          <p:cNvSpPr/>
          <p:nvPr/>
        </p:nvSpPr>
        <p:spPr>
          <a:xfrm>
            <a:off x="3810000" y="4133850"/>
            <a:ext cx="45720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4762500" y="4429125"/>
            <a:ext cx="26670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项目背景与需求</a:t>
            </a:r>
            <a:endParaRPr lang="zh-CN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3848100" y="5076825"/>
            <a:ext cx="449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校园群聊信息爆炸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重要信息被淹没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需要智能监控助手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4848225" y="1581150"/>
            <a:ext cx="2505075" cy="2286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 spc="600">
                <a:solidFill>
                  <a:srgbClr val="1E4FA8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5000" b="1" spc="600">
              <a:solidFill>
                <a:srgbClr val="1E4FA8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71500" y="6315075"/>
            <a:ext cx="1504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01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项目背景与需求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3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左侧标题栏（窄） */}&#10;    &lt;Box style={{&#10;        position: 'absolute', left: 0, top: 0,&#10;        width: 300, height: 720,&#10;        background: '#0E3F8C',&#10;        justifyContent: 'center',&#10;        flexDirection: 'column', padding: '0 40px', gap: 16,&#10;    }}&gt;&#10;        &lt;Text style={{ fontSize: 14, color: '#3D7BD9', letterSpacing: 2 }}&gt;PART 01 · 背景&lt;/Text&gt;&#10;        &lt;Text style={{ fontSize: 34, color: '#FFFFFF', fontWeight: 'bold', lineHeight: 1.4 }}&gt;&#10;            群聊信息洪流下的&#10;            &lt;br /&gt;&#10;            「重要信息丢失」&#10;        &lt;/Text&gt;&#10;        &lt;Box style={{ width: 48, height: 3, background: '#3D7BD9', marginTop: 4 }} /&gt;&#10;    &lt;/Box&gt;&#10;&#10;    {/* 右侧内容区 */}&#10;    &lt;Box style={{&#10;        position: 'absolute', left: 340, top: 0,&#10;        width: 900, height: 720,&#10;        padding: '64px 56px',&#10;        flexDirection: 'column', justifyContent: 'center', gap: 30,&#10;    }}&gt;&#10;        &lt;Box style={{ flexDirection: 'row', gap: 20, alignItems: 'center' }}&gt;&#10;            &lt;FAIcon name='comments' style={{ fill: '#1E4FA8', width: 44, height: 44 }} /&gt;&#10;            &lt;Box&gt;&#10;                &lt;Text style={{ fontSize: 24, color: '#1A2230', fontWeight: 'bold' }}&gt;校园群的现状&lt;/Text&gt;&#10;                &lt;Text style={{ fontSize: 16, color: '#4A5568', marginTop: 6, lineHeight: 1.6 }}&gt;&#10;                    一个活跃班级群每天产生 &lt;span style={{ fontWeight: 'bold', color: '#D9534F' }}&gt;数百条&lt;/span&gt; 消息，&#10;                    关键信息在几分钟内即被大量闲聊淹没。&#10;                &lt;/Text&gt;&#10;            &lt;/Box&gt;&#10;        &lt;/Box&gt;&#10;&#10;        &lt;Box style={{ flexDirection: 'row', gap: 20, alignItems: 'center' }}&gt;&#10;            &lt;FAIcon name='exclamation-circle' style={{ fill: '#D9534F', width: 44, height: 44 }} /&gt;&#10;            &lt;Box&gt;&#10;                &lt;Text style={{ fontSize: 24, color: '#1A2230', fontWeight: 'bold' }}&gt;真实风险&lt;/Text&gt;&#10;                &lt;Text style={{ fontSize: 16, color: '#4A5568', marginTop: 6, lineHeight: 1.6 }}&gt;&#10;                    突发安全事件（着火 / 晕倒 / 失联）、考试通知、财物求助、&#10;                    心理预警 —— 一旦错过可能造成严重后果。&#10;                &lt;/Text&gt;&#10;            &lt;/Box&gt;&#10;        &lt;/Box&gt;&#10;&#10;        &lt;Box style={{ flexDirection: 'row', gap: 20, alignItems: 'center' }}&gt;&#10;            &lt;FAIcon name='user-times' style={{ fill: '#3D7BD9', width: 44, height: 44 }} /&gt;&#10;            &lt;Box&gt;&#10;                &lt;Text style={{ fontSize: 24, color: '#1A2230', fontWeight: 'bold' }}&gt;管理者困境&lt;/Text&gt;&#10;                &lt;Text style={{ fontSize: 16, color: '#4A5568', marginTop: 6, lineHeight: 1.6 }}&gt;&#10;                    班主任 / 班委 / 社团负责人无法实时盯守每个群；&#10;                    人工翻记录效率低，纯关键词匹配又大量误报。&#10;                &lt;/Text&gt;&#10;            &lt;/Box&gt;&#10;        &lt;/Box&gt;&#10;&#10;        &lt;Box style={{&#10;            background: '#F0F5FC', borderRadius: 10,&#10;            padding: '18px 24px', borderLeft: '4px solid #1E4FA8',&#10;            marginTop: 8,&#10;        }}&gt;&#10;            &lt;Text style={{ fontSize: 18, color: '#0E3F8C', fontWeight: 'bold', lineHeight: 1.6 }}&gt;&#10;                结论：需要一套「低成本、易部署、双平台、智能化」的群聊监控分析工具&#10;            &lt;/Text&gt;&#10;        &lt;/Box&gt;&#10;    &lt;/Box&gt;&#10;&#10;    {/* 页码 */}&#10;    &lt;Text style={{ position: 'absolute', right: 60, bottom: 40, fontSize: 14, color: '#8B97A8' }}&gt;&#10;        4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矩形 2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24" name="矩形 2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25" name="矩形 224"/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381000" y="2076450"/>
            <a:ext cx="2095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01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381000" y="2390775"/>
            <a:ext cx="2095500" cy="2181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群聊信息洪流下的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「重要信息丢失」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381000" y="4762500"/>
            <a:ext cx="4572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pic>
        <p:nvPicPr>
          <p:cNvPr id="229" name="图片 22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1900" y="1790700"/>
            <a:ext cx="419100" cy="419100"/>
          </a:xfrm>
          <a:prstGeom prst="rect">
            <a:avLst/>
          </a:prstGeom>
        </p:spPr>
      </p:pic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4381500" y="1685925"/>
            <a:ext cx="5476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校园群的现状</a:t>
            </a:r>
            <a:endParaRPr lang="zh-CN" sz="18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4381500" y="2019300"/>
            <a:ext cx="54768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一个活跃班级群每天产生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数百</a:t>
            </a:r>
            <a:r>
              <a:rPr lang="zh-CN" sz="1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上千条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消息，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关键信息在几分钟内即被大量闲聊淹没。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2" name="图片 2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1900" y="2705100"/>
            <a:ext cx="419100" cy="419100"/>
          </a:xfrm>
          <a:prstGeom prst="rect">
            <a:avLst/>
          </a:prstGeom>
        </p:spPr>
      </p:pic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4362450" y="2600325"/>
            <a:ext cx="691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真实风险</a:t>
            </a:r>
            <a:endParaRPr lang="zh-CN" sz="18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4362450" y="2933700"/>
            <a:ext cx="716470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突发安全事件（着火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晕倒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失联）、考试通知、财物求助、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心理预警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一旦错过可能造成严重后果。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5" name="图片 23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1900" y="3619500"/>
            <a:ext cx="419100" cy="419100"/>
          </a:xfrm>
          <a:prstGeom prst="rect">
            <a:avLst/>
          </a:prstGeom>
        </p:spPr>
      </p:pic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4381500" y="3514725"/>
            <a:ext cx="6610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管理者困境</a:t>
            </a:r>
            <a:endParaRPr lang="zh-CN" sz="18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4381500" y="3848100"/>
            <a:ext cx="6610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班主任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班委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社团负责人无法实时盯守每个群；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人工翻记录效率低，纯关键词匹配又大量误报。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圆角矩形 237"/>
          <p:cNvSpPr/>
          <p:nvPr/>
        </p:nvSpPr>
        <p:spPr>
          <a:xfrm>
            <a:off x="3810000" y="4505325"/>
            <a:ext cx="7505700" cy="676275"/>
          </a:xfrm>
          <a:prstGeom prst="roundRect">
            <a:avLst>
              <a:gd name="adj" fmla="val 1408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39" name="任意多边形 238"/>
          <p:cNvSpPr/>
          <p:nvPr/>
        </p:nvSpPr>
        <p:spPr>
          <a:xfrm>
            <a:off x="3810000" y="4505325"/>
            <a:ext cx="7505700" cy="676275"/>
          </a:xfrm>
          <a:custGeom>
            <a:avLst/>
            <a:gdLst/>
            <a:ahLst/>
            <a:cxnLst/>
            <a:pathLst>
              <a:path w="788" h="7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5"/>
                </a:lnTo>
                <a:cubicBezTo>
                  <a:pt x="4" y="68"/>
                  <a:pt x="6" y="70"/>
                  <a:pt x="9" y="71"/>
                </a:cubicBezTo>
                <a:cubicBezTo>
                  <a:pt x="4" y="70"/>
                  <a:pt x="0" y="66"/>
                  <a:pt x="0" y="6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4038600" y="4676775"/>
            <a:ext cx="70104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结论：需要一套「低成本、易部署、双平台、智能化」的群聊监控分析工具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4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&#10;        position: 'absolute', left: 60, top: 40,&#10;        width: 1160,&#10;        flexDirection: 'column',&#10;    }}&gt;&#10;        &lt;Text style={{ fontSize: 14, color: '#3D7BD9', letterSpacing: 2 }}&gt;PART 02 · 系统设计&lt;/Text&gt;&#10;        &lt;Text style={{ fontSize: 32, color: '#0E3F8C', fontWeight: 'bold', marginTop: 6 }}&gt;&#10;            系统总体架构 · 四进程分层&#10;        &lt;/Text&gt;&#10;    &lt;/Box&gt;&#10;&#10;    {/* 架构 SVG（左 60%） */}&#10;    &lt;Box style={{&#10;        position: 'absolute', left: 60, top: 130,&#10;        width: 700, height: 480,&#10;    }}&gt;&#10;        &lt;svg width={700} height={480} viewBox='0 0 700 480'&gt;&#10;            {/* 背景 */}&#10;            &lt;rect x='0' y='0' width='700' height='480' rx='12' fill='#F7F9FC' /&gt;&#10;            {/* 数据源层 */}&#10;            &lt;rect x='20' y='20' width='660' height='110' rx='10' fill='#E8EFF8' /&gt;&#10;            &lt;text x='40' y='50' font-size='16' font-weight='bold' fill='#0E3F8C'&gt;数据源层&lt;/text&gt;&#10;            &lt;rect x='40' y='62' width='190' height='52' rx='8' fill='#FFFFFF' stroke='#3D7BD9' stroke-width='1.5' /&gt;&#10;            &lt;text x='135' y='88' font-size='14' fill='#1A2230' text-anchor='middle'&gt;QQ 官方机器人&lt;/text&gt;&#10;            &lt;text x='135' y='106' font-size='12' fill='#8B97A8' text-anchor='middle'&gt;WebSocket 长连接&lt;/text&gt;&#10;            &lt;rect x='250' y='62' width='190' height='52' rx='8' fill='#FFFFFF' stroke='#3D7BD9' stroke-width='1.5' /&gt;&#10;            &lt;text x='345' y='88' font-size='14' fill='#1A2230' text-anchor='middle'&gt;钉钉开放平台&lt;/text&gt;&#10;            &lt;text x='345' y='106' font-size='12' fill='#8B97A8' text-anchor='middle'&gt;API 轮询拉取&lt;/text&gt;&#10;            &lt;rect x='460' y='62' width='200' height='52' rx='8' fill='#FFFFFF' stroke='#3D7BD9' stroke-width='1.5' /&gt;&#10;            &lt;text x='560' y='88' font-size='14' fill='#1A2230' text-anchor='middle'&gt;阿里云百炼 AI&lt;/text&gt;&#10;            &lt;text x='560' y='106' font-size='12' fill='#8B97A8' text-anchor='middle'&gt;文本/视觉/语音模型&lt;/text&gt;&#10;&#10;            {/* 箭头 */}&#10;            &lt;path d='M 350 130 L 350 155' stroke='#1E4FA8' stroke-width='2' /&gt;&#10;            &lt;polygon points='345,152 355,152 350,160' fill='#1E4FA8' /&gt;&#10;&#10;            {/* 核心处理层 */}&#10;            &lt;rect x='20' y='160' width='660' height='140' rx='10' fill='#F0F5FC' stroke='#1E4FA8' stroke-width='1.5' /&gt;&#10;            &lt;text x='40' y='190' font-size='16' font-weight='bold' fill='#0E3F8C'&gt;核心处理层（独立 worker 进程 × 2）&lt;/text&gt;&#10;            &lt;rect x='40' y='205' width='300' height='80' rx='8' fill='#FFFFFF' stroke='#1E4FA8' stroke-width='1.5' /&gt;&#10;            &lt;text x='190' y='228' font-size='14' font-weight='bold' fill='#1A2230' text-anchor='middle'&gt;平台适配器（QQ / 钉钉）&lt;/text&gt;&#10;            &lt;text x='190' y='250' font-size='12' fill='#4A5568' text-anchor='middle'&gt;消息解析 · 媒体下载 · 语音转写&lt;/text&gt;&#10;            &lt;text x='190' y='270' font-size='12' fill='#4A5568' text-anchor='middle'&gt;断线重连 · 崩溃自愈&lt;/text&gt;&#10;            &lt;rect x='360' y='205' width='300' height='80' rx='8' fill='#FFFFFF' stroke='#1E4FA8' stroke-width='1.5' /&gt;&#10;            &lt;text x='510' y='228' font-size='14' font-weight='bold' fill='#1A2230' text-anchor='middle'&gt;消息流水线（Pipeline）&lt;/text&gt;&#10;            &lt;text x='510' y='250' font-size='12' fill='#4A5568' text-anchor='middle'&gt;去重入库 → 关键词匹配 → AI 判定&lt;/text&gt;&#10;            &lt;text x='510' y='270' font-size='12' fill='#4A5568' text-anchor='middle'&gt;提醒生成 · 报告生成 · 文件归档&lt;/text&gt;&#10;&#10;            {/* 箭头 */}&#10;            &lt;path d='M 350 300 L 350 325' stroke='#1E4FA8' stroke-width='2' /&gt;&#10;            &lt;polygon points='345,322 355,322 350,330' fill='#1E4FA8' /&gt;&#10;&#10;            {/* 服务展示层 */}&#10;            &lt;rect x='20' y='330' width='660' height='110' rx='10' fill='#E8EFF8' /&gt;&#10;            &lt;text x='40' y='360' font-size='16' font-weight='bold' fill='#0E3F8C'&gt;服务展示层（Web 进程）&lt;/text&gt;&#10;            &lt;rect x='40' y='372' width='190' height='52' rx='8' fill='#FFFFFF' stroke='#3D7BD9' stroke-width='1.5' /&gt;&#10;            &lt;text x='135' y='396' font-size='14' fill='#1A2230' text-anchor='middle'&gt;FastAPI Web&lt;/text&gt;&#10;            &lt;text x='135' y='414' font-size='12' fill='#8B97A8' text-anchor='middle'&gt;多用户 · 角色权限&lt;/text&gt;&#10;            &lt;rect x='250' y='372' width='190' height='52' rx='8' fill='#FFFFFF' stroke='#3D7BD9' stroke-width='1.5' /&gt;&#10;            &lt;text x='345' y='396' font-size='14' fill='#1A2230' text-anchor='middle'&gt;SSE 实时推送&lt;/text&gt;&#10;            &lt;text x='345' y='414' font-size='12' fill='#8B97A8' text-anchor='middle'&gt;毫秒级到达&lt;/text&gt;&#10;            &lt;rect x='460' y='372' width='200' height='52' rx='8' fill='#FFFFFF' stroke='#3D7BD9' stroke-width='1.5' /&gt;&#10;            &lt;text x='560' y='396' font-size='14' fill='#1A2230' text-anchor='middle'&gt;单页仪表盘&lt;/text&gt;&#10;            &lt;text x='560' y='414' font-size='12' fill='#8B97A8' text-anchor='middle'&gt;总览/消息/提醒/报告/文件&lt;/text&gt;&#10;        &lt;/svg&gt;&#10;    &lt;/Box&gt;&#10;&#10;    {/* 右侧要点（40%） */}&#10;    &lt;Box style={{&#10;        position: 'absolute', left: 800, top: 150,&#10;        width: 420, height: 460,&#10;        flexDirection: 'column', gap: 22,&#10;    }}&gt;&#10;        &lt;Box style={{ flexDirection: 'row', gap: 16, alignItems: 'flex-start' }}&gt;&#10;            &lt;Box style={{ width: 44, height: 44, borderRadius: 10, background: '#E8EFF8', justifyContent: 'center', alignItems: 'center' }}&gt;&#10;                &lt;FAIcon name='server' style={{ fill: '#1E4FA8', width: 22, height: 22 }} /&gt;&#10;            &lt;/Box&gt;&#10;            &lt;Box style={{ flex: 1 }}&gt;&#10;                &lt;Text style={{ fontSize: 18, color: '#1A2230', fontWeight: 'bold' }}&gt;进程隔离&lt;/Text&gt;&#10;                &lt;Text style={{ fontSize: 14, color: '#4A5568', marginTop: 4, lineHeight: 1.6 }}&gt;&#10;                    Web / QQ / 钉钉 三进程独立，互不干扰，单点故障不影响全局&#10;                &lt;/Text&gt;&#10;            &lt;/Box&gt;&#10;        &lt;/Box&gt;&#10;        &lt;Box style={{ flexDirection: 'row', gap: 16, alignItems: 'flex-start' }}&gt;&#10;            &lt;Box style={{ width: 44, height: 44, borderRadius: 10, background: '#E8EFF8', justifyContent: 'center', alignItems: 'center' }}&gt;&#10;                &lt;FAIcon name='database' style={{ fill: '#1E4FA8', width: 22, height: 22 }} /&gt;&#10;            &lt;/Box&gt;&#10;            &lt;Box style={{ flex: 1 }}&gt;&#10;                &lt;Text style={{ fontSize: 18, color: '#1A2230', fontWeight: 'bold' }}&gt;数据独立&lt;/Text&gt;&#10;                &lt;Text style={{ fontSize: 14, color: '#4A5568', marginTop: 4, lineHeight: 1.6 }}&gt;&#10;                    每平台独立 SQLite 库，消息 / 提醒 / 报告 / 文件统一管理&#10;                &lt;/Text&gt;&#10;            &lt;/Box&gt;&#10;        &lt;/Box&gt;&#10;        &lt;Box style={{ flexDirection: 'row', gap: 16, alignItems: 'flex-start' }}&gt;&#10;            &lt;Box style={{ width: 44, height: 44, borderRadius: 10, background: '#E8EFF8', justifyContent: 'center', alignItems: 'center' }}&gt;&#10;                &lt;FAIcon name='envelope' style={{ fill: '#1E4FA8', width: 22, height: 22 }} /&gt;&#10;            &lt;/Box&gt;&#10;            &lt;Box style={{ flex: 1 }}&gt;&#10;                &lt;Text style={{ fontSize: 18, color: '#1A2230', fontWeight: 'bold' }}&gt;解耦通信&lt;/Text&gt;&#10;                &lt;Text style={{ fontSize: 14, color: '#4A5568', marginTop: 4, lineHeight: 1.6 }}&gt;&#10;                    Web → worker 通过命令文件通道下发控制指令，架构简单可靠&#10;                &lt;/Text&gt;&#10;            &lt;/Box&gt;&#10;        &lt;/Box&gt;&#10;        &lt;Box style={{&#10;            background: '#F0F5FC', borderRadius: 10, padding: '16px 20px',&#10;            borderLeft: '4px solid #1E4FA8', marginTop: 8,&#10;        }}&gt;&#10;            &lt;Text style={{ fontSize: 15, color: '#0E3F8C', fontWeight: 'bold', lineHeight: 1.6 }}&gt;&#10;                技术栈：Python · FastAPI · SQLite · SSE · 阿里云百炼大模型&#10;            &lt;/Text&gt;&#10;        &lt;/Box&gt;&#10;    &lt;/Box&gt;&#10;&#10;    {/* 页码 */}&#10;    &lt;Text style={{ position: 'absolute', right: 60, bottom: 40, fontSize: 14, color: '#8B97A8' }}&gt;&#10;        5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矩形 2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44" name="矩形 24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四进程分层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7" name="图片 24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238250"/>
            <a:ext cx="6667500" cy="4572000"/>
          </a:xfrm>
          <a:prstGeom prst="rect">
            <a:avLst/>
          </a:prstGeom>
        </p:spPr>
      </p:pic>
      <p:sp>
        <p:nvSpPr>
          <p:cNvPr id="248" name="圆角矩形 247"/>
          <p:cNvSpPr/>
          <p:nvPr/>
        </p:nvSpPr>
        <p:spPr>
          <a:xfrm>
            <a:off x="7620000" y="14287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249" name="图片 2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4775" y="1533525"/>
            <a:ext cx="209550" cy="209550"/>
          </a:xfrm>
          <a:prstGeom prst="rect">
            <a:avLst/>
          </a:prstGeom>
        </p:spPr>
      </p:pic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8191500" y="1428750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进程隔离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8191500" y="1676400"/>
            <a:ext cx="3429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Web / QQ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钉钉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三进程独立，互不干扰，单点故障不影响全局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圆角矩形 251"/>
          <p:cNvSpPr/>
          <p:nvPr/>
        </p:nvSpPr>
        <p:spPr>
          <a:xfrm>
            <a:off x="7620000" y="2400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253" name="图片 25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4775" y="2505075"/>
            <a:ext cx="209550" cy="209550"/>
          </a:xfrm>
          <a:prstGeom prst="rect">
            <a:avLst/>
          </a:prstGeom>
        </p:spPr>
      </p:pic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8191500" y="2400300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数据独立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8191500" y="2647950"/>
            <a:ext cx="3429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每平台独立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SQLite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库，消息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提醒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文件统一管理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圆角矩形 255"/>
          <p:cNvSpPr/>
          <p:nvPr/>
        </p:nvSpPr>
        <p:spPr>
          <a:xfrm>
            <a:off x="7620000" y="33718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257" name="图片 25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4775" y="3476625"/>
            <a:ext cx="209550" cy="209550"/>
          </a:xfrm>
          <a:prstGeom prst="rect">
            <a:avLst/>
          </a:prstGeom>
        </p:spPr>
      </p:pic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8191500" y="3371850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解耦通信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8191500" y="3619500"/>
            <a:ext cx="3429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Web → worker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通过命令文件通道下发控制指令，架构简单可靠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圆角矩形 259"/>
          <p:cNvSpPr/>
          <p:nvPr/>
        </p:nvSpPr>
        <p:spPr>
          <a:xfrm>
            <a:off x="7658100" y="4419600"/>
            <a:ext cx="4000500" cy="857250"/>
          </a:xfrm>
          <a:prstGeom prst="roundRect">
            <a:avLst>
              <a:gd name="adj" fmla="val 11111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61" name="任意多边形 260"/>
          <p:cNvSpPr/>
          <p:nvPr/>
        </p:nvSpPr>
        <p:spPr>
          <a:xfrm>
            <a:off x="7658100" y="4419600"/>
            <a:ext cx="4000500" cy="857250"/>
          </a:xfrm>
          <a:custGeom>
            <a:avLst/>
            <a:gdLst/>
            <a:ahLst/>
            <a:cxnLst/>
            <a:pathLst>
              <a:path w="420" h="9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4"/>
                </a:lnTo>
                <a:cubicBezTo>
                  <a:pt x="4" y="87"/>
                  <a:pt x="6" y="89"/>
                  <a:pt x="9" y="90"/>
                </a:cubicBezTo>
                <a:cubicBezTo>
                  <a:pt x="4" y="89"/>
                  <a:pt x="0" y="85"/>
                  <a:pt x="0" y="8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7848600" y="4572000"/>
            <a:ext cx="3581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技术栈：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Python · FastAPI · SQLite · SSE ·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阿里云百炼大模型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5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4" name="" descr="&lt;Slide style={{ background: '#F7F9FC', padding: '0px', position: 'relative', width: '100%', height: '100%' }}&gt;&#10;    {/* 中央大数字 02（右对齐差异版） */}&#10;    &lt;Box style={{&#10;        position: 'absolute', right: 96, top: 60,&#10;        width: 1088, height: 600,&#10;        justifyContent: 'center', alignItems: 'flex-end',&#10;        flexDirection: 'column', paddingRight: 40,&#10;    }}&gt;&#10;        &lt;Text style={{&#10;            fontSize: 200, fontWeight: 'bold', color: '#3D7BD9',&#10;            lineHeight: 1, opacity: 0.9, letterSpacing: 8,&#10;        }}&gt;&#10;            02&#10;        &lt;/Text&gt;&#10;        &lt;Box style={{ width: 480, height: 3, background: '#1E4FA8', marginTop: 28, marginBottom: 28 }} /&gt;&#10;        &lt;Text style={{ fontSize: 40, color: '#0E3F8C', fontWeight: 'bold', marginBottom: 12 }}&gt;&#10;            系统设计与核心技术&#10;        &lt;/Text&gt;&#10;        &lt;Text style={{ fontSize: 18, color: '#4A5568', marginTop: 8 }}&gt;&#10;            四进程架构 · 双重判定 · SSE 推送 · 文件库 · 安全加固&#10;        &lt;/Text&gt;&#10;    &lt;/Box&gt;&#10;&#10;    {/* 左下角标 */}&#10;    &lt;Text style={{&#10;        position: 'absolute', left: 60, bottom: 40,&#10;        fontSize: 14, color: '#8B97A8',&#10;    }}&gt;&#10;        Part 02 · 系统设计与核心技术&#10;    &lt;/Text&gt;&#10;    {/* 右下页码 */}&#10;    &lt;Text style={{&#10;        position: 'absolute', right: 60, bottom: 40,&#10;        fontSize: 14, color: '#8B97A8',&#10;    }}&gt;&#10;        6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矩形 2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66" name="矩形 265"/>
          <p:cNvSpPr/>
          <p:nvPr/>
        </p:nvSpPr>
        <p:spPr>
          <a:xfrm>
            <a:off x="6324600" y="4133850"/>
            <a:ext cx="45720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7467600" y="4429125"/>
            <a:ext cx="34290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系统设计与核心技术</a:t>
            </a:r>
            <a:endParaRPr lang="zh-CN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896100" y="5076825"/>
            <a:ext cx="400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四进程架构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双重判定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SSE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推送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文件库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安全加固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8391525" y="1581150"/>
            <a:ext cx="2505075" cy="2286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 spc="600">
                <a:solidFill>
                  <a:srgbClr val="3D7BD9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5000" b="1" spc="600">
              <a:solidFill>
                <a:srgbClr val="3D7BD9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571500" y="6315075"/>
            <a:ext cx="1771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系统设计与核心技术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6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2 · 核心技术 1&lt;/Text&gt;&#10;        &lt;Text style={{ fontSize: 32, color: '#0E3F8C', fontWeight: 'bold', marginTop: 6 }}&gt;&#10;            关键词 + AI 双重重要性判定&#10;        &lt;/Text&gt;&#10;    &lt;/Box&gt;&#10;&#10;    {/* 左：判定流程 SVG */}&#10;    &lt;Box style={{ position: 'absolute', left: 60, top: 130, width: 620, height: 480 }}&gt;&#10;        &lt;svg width={620} height={480} viewBox='0 0 620 480'&gt;&#10;            {/* 背景 */}&#10;            &lt;rect x='0' y='0' width='620' height='480' rx='12' fill='#F7F9FC' /&gt;&#10;            {/* 第一级：关键词 */}&#10;            &lt;rect x='60' y='30' width='500' height='110' rx='10' fill='#FFFFFF' stroke='#3D7BD9' stroke-width='1.5' /&gt;&#10;            &lt;rect x='80' y='46' width='100' height='28' rx='14' fill='#1E4FA8' /&gt;&#10;            &lt;text x='130' y='65' font-size='13' fill='#FFFFFF' text-anchor='middle' font-weight='bold'&gt;第一级&lt;/text&gt;&#10;            &lt;text x='170' y='78' font-size='16' font-weight='bold' fill='#0E3F8C'&gt;关键词快速筛选&lt;/text&gt;&#10;            &lt;text x='170' y='106' font-size='13' fill='#4A5568'&gt;内置 16 类 288 校园风险词库 · 每账号独立&lt;/text&gt;&#10;            &lt;text x='170' y='128' font-size='13' fill='#4A5568'&gt;闲聊直接放行 · 控制 AI 成本&lt;/text&gt;&#10;&#10;            {/* 箭头1 */}&#10;            &lt;path d='M 310 140 L 310 165' stroke='#1E4FA8' stroke-width='2' /&gt;&#10;            &lt;polygon points='305,162 315,162 310,170' fill='#1E4FA8' /&gt;&#10;            &lt;text x='330' y='158' font-size='12' fill='#8B97A8'&gt;命中候选&lt;/text&gt;&#10;&#10;            {/* 第二级：AI 判定 */}&#10;            &lt;rect x='60' y='175' width='500' height='140' rx='10' fill='#FFFFFF' stroke='#1E4FA8' stroke-width='2' /&gt;&#10;            &lt;rect x='80' y='191' width='100' height='28' rx='14' fill='#0E3F8C' /&gt;&#10;            &lt;text x='130' y='210' font-size='13' fill='#FFFFFF' text-anchor='middle' font-weight='bold'&gt;第二级&lt;/text&gt;&#10;            &lt;text x='170' y='223' font-size='16' font-weight='bold' fill='#0E3F8C'&gt;大模型精准判定&lt;/text&gt;&#10;            &lt;text x='170' y='250' font-size='13' fill='#4A5568'&gt;deepseek-v4-flash-0731（思考模式）&lt;/text&gt;&#10;            &lt;text x='170' y='272' font-size='13' fill='#4A5568'&gt;输出结构化 JSON：是否重要 / 原因&lt;/text&gt;&#10;            &lt;text x='170' y='294' font-size='13' fill='#4A5568'&gt;处置建议 / 优先级 high|medium|low&lt;/text&gt;&#10;&#10;            {/* 箭头2 */}&#10;            &lt;path d='M 310 315 L 310 340' stroke='#1E4FA8' stroke-width='2' /&gt;&#10;            &lt;polygon points='305,337 315,337 310,345' fill='#1E4FA8' /&gt;&#10;&#10;            {/* 结果分流 */}&#10;            &lt;rect x='60' y='350' width='240' height='60' rx='10' fill='#F0F5FC' stroke='#3D7BD9' stroke-width='1.5' /&gt;&#10;            &lt;text x='180' y='375' font-size='14' font-weight='bold' fill='#0E3F8C' text-anchor='middle'&gt;重要 → 生成提醒&lt;/text&gt;&#10;            &lt;text x='180' y='396' font-size='12' fill='#4A5568' text-anchor='middle'&gt;SSE 实时推送 + 站内提醒&lt;/text&gt;&#10;            &lt;rect x='320' y='350' width='240' height='60' rx='10' fill='#E8EFF8' stroke='#8B97A8' stroke-width='1' /&gt;&#10;            &lt;text x='440' y='375' font-size='14' font-weight='bold' fill='#4A5568' text-anchor='middle'&gt;不重要 → 忽略&lt;/text&gt;&#10;            &lt;text x='440' y='396' font-size='12' fill='#8B97A8' text-anchor='middle'&gt;过滤测试消息与误报&lt;/text&gt;&#10;        &lt;/svg&gt;&#10;    &lt;/Box&gt;&#10;&#10;    {/* 右：说明与效果 */}&#10;    &lt;Box style={{&#10;        position: 'absolute', left: 720, top: 150,&#10;        width: 500, height: 460,&#10;        flexDirection: 'column', gap: 20,&#10;    }}&gt;&#10;        &lt;Box style={{&#10;            background: '#F0F5FC', borderRadius: 10, padding: '18px 22px',&#10;            borderLeft: '4px solid #1E4FA8',&#10;        }}&gt;&#10;            &lt;Text style={{ fontSize: 16, color: '#0E3F8C', fontWeight: 'bold', lineHeight: 1.6 }}&gt;&#10;                兼顾速度与准确率：规则引擎秒级筛选 + 大模型深度理解&#10;            &lt;/Text&gt;&#10;        &lt;/Box&gt;&#10;        &lt;Box style={{ flexDirection: 'column', gap: 14 }}&gt;&#10;            &lt;Box style={{ flexDirection: 'row', gap: 12, alignItems: 'center' }}&gt;&#10;                &lt;FAIcon name='check-circle' style={{ fill: '#1E4FA8', width: 22, height: 22 }} /&gt;&#10;                &lt;Text style={{ fontSize: 15, color: '#1A2230', lineHeight: 1.6 }}&gt;&#10;                    着火 / 晕倒 / 失联 → &lt;span style={{ fontWeight: 'bold', color: '#D9534F' }}&gt;high 紧急&lt;/span&gt;，给出处置建议&#10;                &lt;/Text&gt;&#10;            &lt;/Box&gt;&#10;            &lt;Box style={{ flexDirection: 'row', gap: 12, alignItems: 'center' }}&gt;&#10;                &lt;FAIcon name='check-circle' style={{ fill: '#3D7BD9', width: 22, height: 22 }} /&gt;&#10;                &lt;Text style={{ fontSize: 15, color: '#1A2230', lineHeight: 1.6 }}&gt;&#10;                    考试通知 / 资料发放 → &lt;span style={{ fontWeight: 'bold', color: '#1E4FA8' }}&gt;medium 事务&lt;/span&gt;，提醒跟进&#10;                &lt;/Text&gt;&#10;            &lt;/Box&gt;&#10;            &lt;Box style={{ flexDirection: 'row', gap: 12, alignItems: 'center' }}&gt;&#10;                &lt;FAIcon name='times-circle' style={{ fill: '#8B97A8', width: 22, height: 22 }} /&gt;&#10;                &lt;Text style={{ fontSize: 15, color: '#1A2230', lineHeight: 1.6 }}&gt;&#10;                    「关键词测试」「食堂好吃」→ 自动忽略，不误报&#10;                &lt;/Text&gt;&#10;            &lt;/Box&gt;&#10;        &lt;/Box&gt;&#10;        &lt;Box style={{&#10;            background: '#E8EFF8', borderRadius: 10, padding: '16px 20px', marginTop: 8,&#10;        }}&gt;&#10;            &lt;Text style={{ fontSize: 15, color: '#1A2230', lineHeight: 1.7 }}&gt;&#10;                &lt;span style={{ fontWeight: 'bold', color: '#0E3F8C' }}&gt;补判定机制&lt;/span&gt;：关键词库更新后自动对当天&#10;                历史消息重新判定，新增关键词不漏历史重要消息。&#10;            &lt;/Text&gt;&#10;        &lt;/Box&gt;&#10;    &lt;/Box&gt;&#10;&#10;    {/* 页码 */}&#10;    &lt;Text style={{ position: 'absolute', right: 60, bottom: 40, fontSize: 14, color: '#8B97A8' }}&gt;&#10;        7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矩形 2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74" name="矩形 27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AI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双重重要性判定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圆角矩形 277"/>
          <p:cNvSpPr/>
          <p:nvPr/>
        </p:nvSpPr>
        <p:spPr>
          <a:xfrm>
            <a:off x="6896100" y="1428750"/>
            <a:ext cx="4762500" cy="638175"/>
          </a:xfrm>
          <a:prstGeom prst="roundRect">
            <a:avLst>
              <a:gd name="adj" fmla="val 1492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79" name="任意多边形 278"/>
          <p:cNvSpPr/>
          <p:nvPr/>
        </p:nvSpPr>
        <p:spPr>
          <a:xfrm>
            <a:off x="6896100" y="1428750"/>
            <a:ext cx="4762500" cy="638175"/>
          </a:xfrm>
          <a:custGeom>
            <a:avLst/>
            <a:gdLst/>
            <a:ahLst/>
            <a:cxnLst/>
            <a:pathLst>
              <a:path w="500" h="6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1"/>
                </a:lnTo>
                <a:cubicBezTo>
                  <a:pt x="4" y="64"/>
                  <a:pt x="6" y="66"/>
                  <a:pt x="9" y="67"/>
                </a:cubicBezTo>
                <a:cubicBezTo>
                  <a:pt x="4" y="66"/>
                  <a:pt x="0" y="62"/>
                  <a:pt x="0" y="5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7105650" y="1600200"/>
            <a:ext cx="4305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兼顾速度与准确率：规则引擎秒级筛选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大模型深度理解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1" name="图片 28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0" y="2295525"/>
            <a:ext cx="209550" cy="209550"/>
          </a:xfrm>
          <a:prstGeom prst="rect">
            <a:avLst/>
          </a:prstGeom>
        </p:spPr>
      </p:pic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7181850" y="2257425"/>
            <a:ext cx="3028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着火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晕倒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失联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en-US" sz="112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high </a:t>
            </a:r>
            <a:r>
              <a:rPr lang="zh-CN" sz="112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紧急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，给出处置建议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3" name="图片 2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2705100"/>
            <a:ext cx="209550" cy="209550"/>
          </a:xfrm>
          <a:prstGeom prst="rect">
            <a:avLst/>
          </a:prstGeom>
        </p:spPr>
      </p:pic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181850" y="2667000"/>
            <a:ext cx="31527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考试通知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资料发放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medium </a:t>
            </a:r>
            <a:r>
              <a:rPr lang="zh-CN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事务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，提醒跟进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5" name="图片 28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3114675"/>
            <a:ext cx="209550" cy="209550"/>
          </a:xfrm>
          <a:prstGeom prst="rect">
            <a:avLst/>
          </a:prstGeom>
        </p:spPr>
      </p:pic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7181850" y="3076575"/>
            <a:ext cx="3190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「关键词测试」「食堂好吃」→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自动忽略，不误报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圆角矩形 286"/>
          <p:cNvSpPr/>
          <p:nvPr/>
        </p:nvSpPr>
        <p:spPr>
          <a:xfrm>
            <a:off x="6858000" y="3619500"/>
            <a:ext cx="4762500" cy="895350"/>
          </a:xfrm>
          <a:prstGeom prst="roundRect">
            <a:avLst>
              <a:gd name="adj" fmla="val 10638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7048500" y="3771900"/>
            <a:ext cx="4381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补判定机制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：关键词库更新后自动对当天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历史消息重新判定，新增关键词不漏历史重要消息。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7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" name="图片 0" descr="ChatGPT Image 2026年8月27日 21_35_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" y="1264920"/>
            <a:ext cx="5683250" cy="4661535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2 · 核心技术 2&lt;/Text&gt;&#10;        &lt;Text style={{ fontSize: 32, color: '#0E3F8C', fontWeight: 'bold', marginTop: 6 }}&gt;&#10;            SSE 毫秒级实时推送&#10;        &lt;/Text&gt;&#10;    &lt;/Box&gt;&#10;&#10;    {/* 上：推送链路 SVG */}&#10;    &lt;Box style={{ position: 'absolute', left: 60, top: 130, width: 1160, height: 260 }}&gt;&#10;        &lt;svg width={1160} height={260} viewBox='0 0 1160 260'&gt;&#10;            &lt;rect x='0' y='0' width='1160' height='260' rx='12' fill='#F7F9FC' /&gt;&#10;&#10;            {/* 步骤1 群消息 */}&#10;            &lt;rect x='30' y='60' width='180' height='140' rx='10' fill='#FFFFFF' stroke='#3D7BD9' stroke-width='1.5' /&gt;&#10;            &lt;text x='120' y='100' font-size='15' font-weight='bold' fill='#0E3F8C' text-anchor='middle'&gt;群聊新消息&lt;/text&gt;&#10;            &lt;text x='120' y='126' font-size='12' fill='#4A5568' text-anchor='middle'&gt;QQ / 钉钉群&lt;/text&gt;&#10;            &lt;text x='120' y='148' font-size='12' fill='#4A5568' text-anchor='middle'&gt;worker 实时接收&lt;/text&gt;&#10;            &lt;text x='120' y='170' font-size='12' fill='#4A5568' text-anchor='middle'&gt;入库 + 判定&lt;/text&gt;&#10;&#10;            {/* 箭头1 */}&#10;            &lt;path d='M 210 130 L 270 130' stroke='#1E4FA8' stroke-width='2.5' /&gt;&#10;            &lt;polygon points='265,125 275,125 270,135' fill='#1E4FA8' /&gt;&#10;            &lt;text x='240' y='112' font-size='12' fill='#8B97A8' text-anchor='middle'&gt;入库&lt;/text&gt;&#10;&#10;            {/* 步骤2 SQLite */}&#10;            &lt;rect x='275' y='60' width='180' height='140' rx='10' fill='#FFFFFF' stroke='#3D7BD9' stroke-width='1.5' /&gt;&#10;            &lt;text x='365' y='100' font-size='15' font-weight='bold' fill='#0E3F8C' text-anchor='middle'&gt;SQLite 数据库&lt;/text&gt;&#10;            &lt;text x='365' y='126' font-size='12' fill='#4A5568' text-anchor='middle'&gt;消息 / 提醒 / 报告&lt;/text&gt;&#10;            &lt;text x='365' y='148' font-size='12' fill='#4A5568' text-anchor='middle'&gt;增量游标记录&lt;/text&gt;&#10;            &lt;text x='365' y='170' font-size='12' fill='#4A5568' text-anchor='middle'&gt;MAX(ts/id)&lt;/text&gt;&#10;&#10;            {/* 箭头2 */}&#10;            &lt;path d='M 455 130 L 515 130' stroke='#1E4FA8' stroke-width='2.5' /&gt;&#10;            &lt;polygon points='510,125 520,125 515,135' fill='#1E4FA8' /&gt;&#10;            &lt;text x='485' y='112' font-size='12' fill='#8B97A8' text-anchor='middle'&gt;2s 扫描&lt;/text&gt;&#10;&#10;            {/* 步骤3 SSE 广播 */}&#10;            &lt;rect x='520' y='60' width='200' height='140' rx='10' fill='#FFFFFF' stroke='#1E4FA8' stroke-width='2' /&gt;&#10;            &lt;text x='620' y='100' font-size='15' font-weight='bold' fill='#0E3F8C' text-anchor='middle'&gt;SSE 广播管理器&lt;/text&gt;&#10;            &lt;text x='620' y='126' font-size='12' fill='#4A5568' text-anchor='middle'&gt;发现增量&lt;/text&gt;&#10;            &lt;text x='620' y='148' font-size='12' fill='#4A5568' text-anchor='middle'&gt;推送事件到&lt;/text&gt;&#10;            &lt;text x='620' y='170' font-size='12' fill='#4A5568' text-anchor='middle'&gt;所有在线连接&lt;/text&gt;&#10;&#10;            {/* 箭头3 */}&#10;            &lt;path d='M 720 130 L 780 130' stroke='#1E4FA8' stroke-width='2.5' /&gt;&#10;            &lt;polygon points='775,125 785,125 780,135' fill='#1E4FA8' /&gt;&#10;&#10;            {/* 步骤4 浏览器 */}&#10;            &lt;rect x='785' y='60' width='340' height='140' rx='10' fill='#F0F5FC' stroke='#1E4FA8' stroke-width='1.5' /&gt;&#10;            &lt;text x='955' y='100' font-size='15' font-weight='bold' fill='#0E3F8C' text-anchor='middle'&gt;浏览器（EventSource 监听）&lt;/text&gt;&#10;            &lt;text x='955' y='128' font-size='13' fill='#1A2230' text-anchor='middle'&gt;新消息 → 列表即时刷新&lt;/text&gt;&#10;            &lt;text x='955' y='152' font-size='13' fill='#1A2230' text-anchor='middle'&gt;新提醒 → 弹条提示 + 角标&lt;/text&gt;&#10;            &lt;text x='955' y='176' font-size='13' fill='#1A2230' text-anchor='middle'&gt;新报告/文件 → 即时出现&lt;/text&gt;&#10;        &lt;/svg&gt;&#10;    &lt;/Box&gt;&#10;&#10;    {/* 下：要点卡 */}&#10;    &lt;Box style={{&#10;        position: 'absolute', left: 60, top: 420,&#10;        width: 1160, height: 220,&#10;        flexDirection: 'row', gap: 24,&#10;    }}&gt;&#10;        &lt;Box style={{&#10;            flex: 1, background: '#F0F5FC', borderRadius: 10, padding: '22px 26px',&#10;            flexDirection: 'column', justifyContent: 'center',&#10;        }}&gt;&#10;            &lt;Text style={{ fontSize: 30, color: '#1E4FA8', fontWeight: 'bold', marginBottom: 8 }}&gt;2 秒&lt;/Text&gt;&#10;            &lt;Text style={{ fontSize: 15, color: '#1A2230', lineHeight: 1.6 }}&gt;&#10;                后台增量扫描间隔，数据变化后毫秒级推送到达&#10;            &lt;/Text&gt;&#10;        &lt;/Box&gt;&#10;        &lt;Box style={{&#10;            flex: 1, background: '#F0F5FC', borderRadius: 10, padding: '22px 26px',&#10;            flexDirection: 'column', justifyContent: 'center',&#10;        }}&gt;&#10;            &lt;Text style={{ fontSize: 30, color: '#1E4FA8', fontWeight: 'bold', marginBottom: 8 }}&gt;零刷新&lt;/Text&gt;&#10;            &lt;Text style={{ fontSize: 15, color: '#1A2230', lineHeight: 1.6 }}&gt;&#10;                网页保持打开即实时更新，无需手动刷新页面&#10;            &lt;/Text&gt;&#10;        &lt;/Box&gt;&#10;        &lt;Box style={{&#10;            flex: 1, background: '#F0F5FC', borderRadius: 10, padding: '22px 26px',&#10;            flexDirection: 'column', justifyContent: 'center',&#10;        }}&gt;&#10;            &lt;Text style={{ fontSize: 30, color: '#1E4FA8', fontWeight: 'bold', marginBottom: 8 }}&gt;双保险&lt;/Text&gt;&#10;            &lt;Text style={{ fontSize: 15, color: '#1A2230', lineHeight: 1.6 }}&gt;&#10;                SSE 断线自动重连，5 秒轮询兜底，不丢任何更新&#10;            &lt;/Text&gt;&#10;        &lt;/Box&gt;&#10;    &lt;/Box&gt;&#10;&#10;    {/* 页码 */}&#10;    &lt;Text style={{ position: 'absolute', right: 60, bottom: 40, fontSize: 14, color: '#8B97A8' }}&gt;&#10;        8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矩形 2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2" name="矩形 29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毫秒级实时推送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5" name="图片 29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238250"/>
            <a:ext cx="11049000" cy="2476500"/>
          </a:xfrm>
          <a:prstGeom prst="rect">
            <a:avLst/>
          </a:prstGeom>
        </p:spPr>
      </p:pic>
      <p:sp>
        <p:nvSpPr>
          <p:cNvPr id="296" name="圆角矩形 295"/>
          <p:cNvSpPr/>
          <p:nvPr/>
        </p:nvSpPr>
        <p:spPr>
          <a:xfrm>
            <a:off x="571500" y="4000500"/>
            <a:ext cx="3533775" cy="20955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819150" y="4705350"/>
            <a:ext cx="3038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22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19150" y="5124450"/>
            <a:ext cx="30384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后台增量扫描间隔，数据变化后毫秒级推送到达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圆角矩形 298"/>
          <p:cNvSpPr/>
          <p:nvPr/>
        </p:nvSpPr>
        <p:spPr>
          <a:xfrm>
            <a:off x="4333875" y="4000500"/>
            <a:ext cx="3524250" cy="20955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4581525" y="4705350"/>
            <a:ext cx="3028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零刷新</a:t>
            </a:r>
            <a:endParaRPr lang="zh-CN" sz="22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4581525" y="5124450"/>
            <a:ext cx="3028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网页保持打开即实时更新，无需手动刷新页面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圆角矩形 301"/>
          <p:cNvSpPr/>
          <p:nvPr/>
        </p:nvSpPr>
        <p:spPr>
          <a:xfrm>
            <a:off x="8086725" y="4000500"/>
            <a:ext cx="3533775" cy="20955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334375" y="4562475"/>
            <a:ext cx="3038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双保险</a:t>
            </a:r>
            <a:endParaRPr lang="zh-CN" sz="22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8334375" y="4981575"/>
            <a:ext cx="30384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断线自动重连，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秒轮询兜底，不丢任何更新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8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2 · 核心技术 3&lt;/Text&gt;&#10;        &lt;Text style={{ fontSize: 32, color: '#0E3F8C', fontWeight: 'bold', marginTop: 6 }}&gt;&#10;            文件库 · 图片 / 文件 / 语音自动保存与 AI 识别&#10;        &lt;/Text&gt;&#10;    &lt;/Box&gt;&#10;&#10;    {/* 左：三路识别 SVG */}&#10;    &lt;Box style={{ position: 'absolute', left: 60, top: 130, width: 560, height: 500 }}&gt;&#10;        &lt;svg width={560} height={500} viewBox='0 0 560 500'&gt;&#10;            &lt;rect x='0' y='0' width='560' height='500' rx='12' fill='#F7F9FC' /&gt;&#10;&#10;            {/* 中间汇聚节点 */}&#10;            &lt;rect x='180' y='210' width='200' height='80' rx='12' fill='#0E3F8C' /&gt;&#10;            &lt;text x='280' y='244' font-size='15' font-weight='bold' fill='#FFFFFF' text-anchor='middle'&gt;统一 files 表&lt;/text&gt;&#10;            &lt;text x='280' y='270' font-size='12' fill='#B8CCF0' text-anchor='middle'&gt;元数据 + AI 描述 + 分类&lt;/text&gt;&#10;&#10;            {/* 图片分支 */}&#10;            &lt;path d='M 150 130 C 150 170, 190 190, 230 210' stroke='#1E4FA8' stroke-width='2' fill='none' /&gt;&#10;            &lt;rect x='30' y='30' width='240' height='100' rx='10' fill='#FFFFFF' stroke='#3D7BD9' stroke-width='1.5' /&gt;&#10;            &lt;text x='150' y='58' font-size='14' font-weight='bold' fill='#0E3F8C' text-anchor='middle'&gt;🖼 图片&lt;/text&gt;&#10;            &lt;text x='150' y='84' font-size='12' fill='#4A5568' text-anchor='middle'&gt;qwen-vl-plus 视觉模型&lt;/text&gt;&#10;            &lt;text x='150' y='108' font-size='12' fill='#4A5568' text-anchor='middle'&gt;识别内容 · 判断是否重要资料&lt;/text&gt;&#10;&#10;            {/* 文件分支 */}&#10;            &lt;path d='M 280 130 C 280 170, 280 180, 280 210' stroke='#1E4FA8' stroke-width='2' fill='none' /&gt;&#10;            &lt;rect x='160' y='30' width='240' height='100' rx='10' fill='#FFFFFF' stroke='#3D7BD9' stroke-width='1.5' /&gt;&#10;            &lt;text x='280' y='58' font-size='14' font-weight='bold' fill='#0E3F8C' text-anchor='middle'&gt;📄 文件&lt;/text&gt;&#10;            &lt;text x='280' y='84' font-size='12' fill='#4A5568' text-anchor='middle'&gt;文件名 + 类型智能分类&lt;/text&gt;&#10;            &lt;text x='280' y='108' font-size='12' fill='#4A5568' text-anchor='middle'&gt;文档/表格/课件/压缩包&lt;/text&gt;&#10;&#10;            {/* 语音分支 */}&#10;            &lt;path d='M 410 130 C 410 170, 370 190, 330 210' stroke='#1E4FA8' stroke-width='2' fill='none' /&gt;&#10;            &lt;rect x='290' y='30' width='240' height='100' rx='10' fill='#FFFFFF' stroke='#3D7BD9' stroke-width='1.5' /&gt;&#10;            &lt;text x='410' y='58' font-size='14' font-weight='bold' fill='#0E3F8C' text-anchor='middle'&gt;🎤 语音&lt;/text&gt;&#10;            &lt;text x='410' y='84' font-size='12' fill='#4A5568' text-anchor='middle'&gt;ASR 语音转写文本&lt;/text&gt;&#10;            &lt;text x='410' y='108' font-size='12' fill='#4A5568' text-anchor='middle'&gt;QQ 官方转写 / 百炼 paraformer&lt;/text&gt;&#10;&#10;            {/* 下方结果 */}&#10;            &lt;path d='M 280 290 L 280 320' stroke='#1E4FA8' stroke-width='2' /&gt;&#10;            &lt;polygon points='275,317 285,317 280,325' fill='#1E4FA8' /&gt;&#10;            &lt;rect x='80' y='330' width='400' height='140' rx='10' fill='#F0F5FC' stroke='#1E4FA8' stroke-width='1.5' /&gt;&#10;            &lt;text x='280' y='360' font-size='14' font-weight='bold' fill='#0E3F8C' text-anchor='middle'&gt;AI 自动整理归档&lt;/text&gt;&#10;            &lt;text x='280' y='390' font-size='13' fill='#1A2230' text-anchor='middle'&gt;重要文件 → 标记 ★ 并生成提醒&lt;/text&gt;&#10;            &lt;text x='280' y='414' font-size='13' fill='#1A2230' text-anchor='middle'&gt;文件库页：缩略图 / 预览 / 下载 / 筛选&lt;/text&gt;&#10;            &lt;text x='280' y='438' font-size='13' fill='#1A2230' text-anchor='middle'&gt;按平台 / 分类 / 重要状态搜索&lt;/text&gt;&#10;        &lt;/svg&gt;&#10;    &lt;/Box&gt;&#10;&#10;    {/* 右：说明 */}&#10;    &lt;Box style={{&#10;        position: 'absolute', left: 660, top: 150,&#10;        width: 560, height: 460,&#10;        flexDirection: 'column', gap: 20,&#10;    }}&gt;&#10;        &lt;Box style={{&#10;            background: '#F0F5FC', borderRadius: 10, padding: '18px 22px',&#10;            borderLeft: '4px solid #1E4FA8',&#10;        }}&gt;&#10;            &lt;Text style={{ fontSize: 16, color: '#0E3F8C', fontWeight: 'bold', lineHeight: 1.6 }}&gt;&#10;                群里的每个附件都不再&quot;一闪而过&quot;，而是沉淀为可检索的班级资料库&#10;            &lt;/Text&gt;&#10;        &lt;/Box&gt;&#10;        &lt;Box style={{ flexDirection: 'column', gap: 14 }}&gt;&#10;            &lt;Box style={{ flexDirection: 'row', gap: 12, alignItems: 'flex-start' }}&gt;&#10;                &lt;FAIcon name='download' style={{ fill: '#1E4FA8', width: 20, height: 20, marginTop: 3 }} /&gt;&#10;                &lt;Text style={{ fontSize: 15, color: '#1A2230', lineHeight: 1.6 }}&gt;&#10;                    附件自动下载保存到 &lt;span style={{ fontWeight: 'bold' }}&gt;data/media/&lt;/span&gt;（按平台/日期归档）&#10;                &lt;/Text&gt;&#10;            &lt;/Box&gt;&#10;            &lt;Box style={{ flexDirection: 'row', gap: 12, alignItems: 'flex-start' }}&gt;&#10;                &lt;FAIcon name='brain' style={{ fill: '#1E4FA8', width: 20, height: 20, marginTop: 3 }} /&gt;&#10;                &lt;Text style={{ fontSize: 15, color: '#1A2230', lineHeight: 1.6 }}&gt;&#10;                    &lt;span style={{ fontWeight: 'bold' }}&gt;三路 AI 识别&lt;/span&gt;：视觉模型看图、文本模型分类文件、ASR 转写语音&#10;                &lt;/Text&gt;&#10;            &lt;/Box&gt;&#10;            &lt;Box style={{ flexDirection: 'row', gap: 12, alignItems: 'flex-start' }}&gt;&#10;                &lt;FAIcon name='star' style={{ fill: '#FFC107', width: 20, height: 20, marginTop: 3 }} /&gt;&#10;                &lt;Text style={{ fontSize: 15, color: '#1A2230', lineHeight: 1.6 }}&gt;&#10;                    重要资料自动&lt;span style={{ fontWeight: 'bold', color: '#D9534F' }}&gt;标 ★&lt;/span&gt; 并生成提醒，管理员可手动更正&#10;                &lt;/Text&gt;&#10;            &lt;/Box&gt;&#10;        &lt;/Box&gt;&#10;        &lt;Box style={{&#10;            background: '#E8EFF8', borderRadius: 10, padding: '16px 20px', marginTop: 8,&#10;        }}&gt;&#10;            &lt;Text style={{ fontSize: 15, color: '#1A2230', lineHeight: 1.7 }}&gt;&#10;                &lt;span style={{ fontWeight: 'bold', color: '#0E3F8C' }}&gt;双平台同步&lt;/span&gt;：QQ 与钉钉的图片/文件/语音&#10;                走同一套保存与识别管线，能力完全对齐。&#10;            &lt;/Text&gt;&#10;        &lt;/Box&gt;&#10;    &lt;/Box&gt;&#10;&#10;    {/* 页码 */}&#10;    &lt;Text style={{ position: 'absolute', right: 60, bottom: 40, fontSize: 14, color: '#8B97A8' }}&gt;&#10;        9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矩形 3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08" name="矩形 30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3</a:t>
            </a:r>
            <a:endParaRPr lang="en-US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文件库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图片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语音自动保存与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圆角矩形 311"/>
          <p:cNvSpPr/>
          <p:nvPr/>
        </p:nvSpPr>
        <p:spPr>
          <a:xfrm>
            <a:off x="6324600" y="1428750"/>
            <a:ext cx="5334000" cy="638175"/>
          </a:xfrm>
          <a:prstGeom prst="roundRect">
            <a:avLst>
              <a:gd name="adj" fmla="val 1492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13" name="任意多边形 312"/>
          <p:cNvSpPr/>
          <p:nvPr/>
        </p:nvSpPr>
        <p:spPr>
          <a:xfrm>
            <a:off x="6324600" y="1428750"/>
            <a:ext cx="5334000" cy="638175"/>
          </a:xfrm>
          <a:custGeom>
            <a:avLst/>
            <a:gdLst/>
            <a:ahLst/>
            <a:cxnLst/>
            <a:pathLst>
              <a:path w="560" h="6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1"/>
                </a:lnTo>
                <a:cubicBezTo>
                  <a:pt x="4" y="64"/>
                  <a:pt x="6" y="66"/>
                  <a:pt x="9" y="67"/>
                </a:cubicBezTo>
                <a:cubicBezTo>
                  <a:pt x="4" y="66"/>
                  <a:pt x="0" y="62"/>
                  <a:pt x="0" y="5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534150" y="1600200"/>
            <a:ext cx="48768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群里的每个附件都不再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一闪而过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，而是沉淀为可检索的班级资料库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5" name="图片 31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0" y="2286000"/>
            <a:ext cx="190500" cy="190500"/>
          </a:xfrm>
          <a:prstGeom prst="rect">
            <a:avLst/>
          </a:prstGeom>
        </p:spPr>
      </p:pic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6591300" y="2257425"/>
            <a:ext cx="3581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附件自动下载保存到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data/media/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（按平台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日期归档）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7" name="图片 3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2695575"/>
            <a:ext cx="190500" cy="190500"/>
          </a:xfrm>
          <a:prstGeom prst="rect">
            <a:avLst/>
          </a:prstGeom>
        </p:spPr>
      </p:pic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6591300" y="2667000"/>
            <a:ext cx="413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三路</a:t>
            </a: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：视觉模型看图、文本模型分类文件、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ASR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转写语音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9" name="图片 31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3105150"/>
            <a:ext cx="190500" cy="190500"/>
          </a:xfrm>
          <a:prstGeom prst="rect">
            <a:avLst/>
          </a:prstGeom>
        </p:spPr>
      </p:pic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6591300" y="3076575"/>
            <a:ext cx="32099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重要资料自动</a:t>
            </a:r>
            <a:r>
              <a:rPr lang="zh-CN" sz="112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标</a:t>
            </a:r>
            <a:r>
              <a:rPr lang="en-US" sz="112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 ★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并生成提醒，管理员可手动更正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圆角矩形 320"/>
          <p:cNvSpPr/>
          <p:nvPr/>
        </p:nvSpPr>
        <p:spPr>
          <a:xfrm>
            <a:off x="6286500" y="3619500"/>
            <a:ext cx="5334000" cy="895350"/>
          </a:xfrm>
          <a:prstGeom prst="roundRect">
            <a:avLst>
              <a:gd name="adj" fmla="val 10638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477000" y="3771900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双平台同步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QQ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与钉钉的图片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语音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走同一套保存与识别管线，能力完全对齐。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9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" name="图片 0" descr="ChatGPT Image 2026年8月27日 14_08_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55" y="971550"/>
            <a:ext cx="5300345" cy="4692650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左侧标题栏 */}&#10;    &lt;Box style={{&#10;        position: 'absolute', left: 0, top: 0,&#10;        width: 300, height: 720,&#10;        background: '#0E3F8C',&#10;        justifyContent: 'center',&#10;        flexDirection: 'column', padding: '0 40px', gap: 16,&#10;    }}&gt;&#10;        &lt;Text style={{ fontSize: 14, color: '#3D7BD9', letterSpacing: 2 }}&gt;PART 02 · 安全设计&lt;/Text&gt;&#10;        &lt;Text style={{ fontSize: 34, color: '#FFFFFF', fontWeight: 'bold', lineHeight: 1.4 }}&gt;&#10;            多用户认证&#10;            &lt;br /&gt;&#10;            与安全加固&#10;        &lt;/Text&gt;&#10;        &lt;Box style={{ width: 48, height: 3, background: '#3D7BD9', marginTop: 4 }} /&gt;&#10;    &lt;/Box&gt;&#10;&#10;    {/* 右侧内容区 */}&#10;    &lt;Box style={{&#10;        position: 'absolute', left: 340, top: 0,&#10;        width: 900, height: 720,&#10;        padding: '56px 52px',&#10;        flexDirection: 'column', justifyContent: 'center', gap: 24,&#10;    }}&gt;&#10;        {/* 认证体系 */}&#10;        &lt;Box style={{ flexDirection: 'column', gap: 12 }}&gt;&#10;            &lt;Text style={{ fontSize: 22, color: '#0E3F8C', fontWeight: 'bold' }}&gt;🔐 多用户认证与权限分级&lt;/Text&gt;&#10;            &lt;Box style={{ flexDirection: 'row', gap: 16 }}&gt;&#10;                &lt;Box style={{ flex: 1, background: '#F0F5FC', borderRadius: 10, padding: '16px 20px' }}&gt;&#10;                    &lt;Text style={{ fontSize: 15, color: '#1A2230', fontWeight: 'bold' }}&gt;PBKDF2 + 随机盐&lt;/Text&gt;&#10;                    &lt;Text style={{ fontSize: 14, color: '#4A5568', marginTop: 4 }}&gt;密码安全哈希存储，不存明文&lt;/Text&gt;&#10;                &lt;/Box&gt;&#10;                &lt;Box style={{ flex: 1, background: '#F0F5FC', borderRadius: 10, padding: '16px 20px' }}&gt;&#10;                    &lt;Text style={{ fontSize: 15, color: '#1A2230', fontWeight: 'bold' }}&gt;JWT 令牌 + 密码版本号&lt;/Text&gt;&#10;                    &lt;Text style={{ fontSize: 14, color: '#4A5568', marginTop: 4 }}&gt;改密/删号后旧令牌立即失效&lt;/Text&gt;&#10;                &lt;/Box&gt;&#10;                &lt;Box style={{ flex: 1, background: '#F0F5FC', borderRadius: 10, padding: '16px 20px' }}&gt;&#10;                    &lt;Text style={{ fontSize: 15, color: '#1A2230', fontWeight: 'bold' }}&gt;多租户隔离&lt;/Text&gt;&#10;                    &lt;Text style={{ fontSize: 14, color: '#4A5568', marginTop: 4 }}&gt;每账号独立绑定/数据/媒体，操作仅限自己实例&lt;/Text&gt;&#10;                &lt;/Box&gt;&#10;            &lt;/Box&gt;&#10;        &lt;/Box&gt;&#10;&#10;        {/* 安全加固清单 */}&#10;        &lt;Box style={{ flexDirection: 'column', gap: 12 }}&gt;&#10;            &lt;Text style={{ fontSize: 22, color: '#0E3F8C', fontWeight: 'bold' }}&gt;🛡 安全加固（10 项）&lt;/Text&gt;&#10;            &lt;Box style={{ flexDirection: 'row', gap: 16, flexWrap: 'wrap' }}&gt;&#10;                {[&#10;                    ['登录限流', '5 次失败锁 10 分钟'],&#10;                    ['注册限频', '同 IP 10 分钟 5 次'],&#10;                    ['IP 取信加固', '防伪造 XFF 绕过'],&#10;                    ['CSRF 防护', '跨站 POST 拒绝'],&#10;                    ['XSS 防护', '前后端全转义 + CSP'],&#10;                    ['路径穿越防护', '文件读取双重校验'],&#10;                    ['配置注入拦截', '.env 值清洗换行'],&#10;                    ['JWT 密钥自动加固', '默认值自动随机化'],&#10;                    ['审计日志', '登录/越权/管理留痕'],&#10;                    ['接口脱敏', '密钥不回显明文'],&#10;                ].map(([k, v], i) =&gt; (&#10;                    &lt;Box key={i} style={{&#10;                        width: 248, background: '#F7F9FC', borderRadius: 8,&#10;                        padding: '12px 16px',&#10;                        flexDirection: 'row', gap: 10, alignItems: 'center',&#10;                        border: '1px solid #E5E7EB',&#10;                    }}&gt;&#10;                        &lt;FAIcon name='shield' style={{ fill: '#1E4FA8', width: 18, height: 18 }} /&gt;&#10;                        &lt;Box&gt;&#10;                            &lt;Text style={{ fontSize: 14, color: '#1A2230', fontWeight: 'bold' }}&gt;{k}&lt;/Text&gt;&#10;                            &lt;Text style={{ fontSize: 12, color: '#8B97A8' }}&gt;{v}&lt;/Text&gt;&#10;                        &lt;/Box&gt;&#10;                    &lt;/Box&gt;&#10;                ))}&#10;            &lt;/Box&gt;&#10;        &lt;/Box&gt;&#10;&#10;        &lt;Box style={{&#10;            background: '#F0F5FC', borderRadius: 10, padding: '16px 22px',&#10;            borderLeft: '4px solid #1E4FA8',&#10;        }}&gt;&#10;            &lt;Text style={{ fontSize: 15, color: '#0E3F8C', fontWeight: 'bold', lineHeight: 1.6 }}&gt;&#10;                满足公网部署的安全基线：防爆破 · 防注入 · 防越权 · 全程审计&#10;            &lt;/Text&gt;&#10;        &lt;/Box&gt;&#10;    &lt;/Box&gt;&#10;&#10;    {/* 页码 */}&#10;    &lt;Text style={{ position: 'absolute', right: 60, bottom: 40, fontSize: 14, color: '#8B97A8' }}&gt;&#10;        10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" name="矩形 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2" name="矩形 21"/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381000" y="2619375"/>
            <a:ext cx="2095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安全设计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381000" y="2933700"/>
            <a:ext cx="2095500" cy="1095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多用户认证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与安全加固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81000" y="4219575"/>
            <a:ext cx="4572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3733800" y="828675"/>
            <a:ext cx="7581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🔐 </a:t>
            </a: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多用户认证与权限分级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733800" y="1200150"/>
            <a:ext cx="2428875" cy="838200"/>
          </a:xfrm>
          <a:prstGeom prst="roundRect">
            <a:avLst>
              <a:gd name="adj" fmla="val 11364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3924300" y="1352550"/>
            <a:ext cx="2047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PBKDF2 +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随机盐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3924300" y="1562100"/>
            <a:ext cx="2047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密码安全哈希存储，不存明文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315075" y="1200150"/>
            <a:ext cx="2419350" cy="838200"/>
          </a:xfrm>
          <a:prstGeom prst="roundRect">
            <a:avLst>
              <a:gd name="adj" fmla="val 11364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6505575" y="1352550"/>
            <a:ext cx="2038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令牌</a:t>
            </a: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密码版本号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6505575" y="1562100"/>
            <a:ext cx="2038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改密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删号后旧令牌立即失效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8886825" y="1200150"/>
            <a:ext cx="2428875" cy="838200"/>
          </a:xfrm>
          <a:prstGeom prst="roundRect">
            <a:avLst>
              <a:gd name="adj" fmla="val 11364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077325" y="1352550"/>
            <a:ext cx="2047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多租户隔离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9077325" y="1562100"/>
            <a:ext cx="2047875" cy="323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每账号独立绑定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媒体，操作仅限自己实例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3733800" y="2266950"/>
            <a:ext cx="7581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🛡 </a:t>
            </a: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安全加固（</a:t>
            </a: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项）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3733800" y="26384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0" y="2819400"/>
            <a:ext cx="171450" cy="171450"/>
          </a:xfrm>
          <a:prstGeom prst="rect">
            <a:avLst/>
          </a:prstGeom>
        </p:spPr>
      </p:pic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152900" y="2752725"/>
            <a:ext cx="990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登录限流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152900" y="2914650"/>
            <a:ext cx="990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次失败锁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248400" y="26384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2819400"/>
            <a:ext cx="171450" cy="171450"/>
          </a:xfrm>
          <a:prstGeom prst="rect">
            <a:avLst/>
          </a:prstGeom>
        </p:spPr>
      </p:pic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667500" y="275272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注册限频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6667500" y="2914650"/>
            <a:ext cx="933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同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IP 10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8763000" y="26384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15400" y="2819400"/>
            <a:ext cx="171450" cy="171450"/>
          </a:xfrm>
          <a:prstGeom prst="rect">
            <a:avLst/>
          </a:prstGeom>
        </p:spPr>
      </p:pic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9182100" y="2752725"/>
            <a:ext cx="838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IP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取信加固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9182100" y="2914650"/>
            <a:ext cx="838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防伪造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XFF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绕过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3733800" y="33242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0" y="3505200"/>
            <a:ext cx="171450" cy="171450"/>
          </a:xfrm>
          <a:prstGeom prst="rect">
            <a:avLst/>
          </a:prstGeom>
        </p:spPr>
      </p:pic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4152900" y="3438525"/>
            <a:ext cx="8286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CSRF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防护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4152900" y="36004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跨站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POST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拒绝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6248400" y="33242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3505200"/>
            <a:ext cx="171450" cy="171450"/>
          </a:xfrm>
          <a:prstGeom prst="rect">
            <a:avLst/>
          </a:prstGeom>
        </p:spPr>
      </p:pic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6667500" y="3438525"/>
            <a:ext cx="10572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XSS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防护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6667500" y="3600450"/>
            <a:ext cx="1057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前后端全转义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+ CSP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8763000" y="33242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15400" y="3505200"/>
            <a:ext cx="171450" cy="171450"/>
          </a:xfrm>
          <a:prstGeom prst="rect">
            <a:avLst/>
          </a:prstGeom>
        </p:spPr>
      </p:pic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9182100" y="3438525"/>
            <a:ext cx="91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路径穿越防护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9182100" y="3600450"/>
            <a:ext cx="9144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文件读取双重校验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3733800" y="40100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0" y="4191000"/>
            <a:ext cx="171450" cy="171450"/>
          </a:xfrm>
          <a:prstGeom prst="rect">
            <a:avLst/>
          </a:prstGeom>
        </p:spPr>
      </p:pic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4152900" y="4124325"/>
            <a:ext cx="8286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配置注入拦截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4152900" y="42862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.env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值清洗换行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6248400" y="40100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4191000"/>
            <a:ext cx="171450" cy="171450"/>
          </a:xfrm>
          <a:prstGeom prst="rect">
            <a:avLst/>
          </a:prstGeom>
        </p:spPr>
      </p:pic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6667500" y="4124325"/>
            <a:ext cx="1133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密钥自动加固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6667500" y="4286250"/>
            <a:ext cx="1133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默认值自动随机化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8763000" y="40100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15400" y="4191000"/>
            <a:ext cx="171450" cy="171450"/>
          </a:xfrm>
          <a:prstGeom prst="rect">
            <a:avLst/>
          </a:prstGeom>
        </p:spPr>
      </p:pic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9182100" y="4124325"/>
            <a:ext cx="1019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审计日志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9182100" y="4286250"/>
            <a:ext cx="1019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登录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越权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管理留痕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3733800" y="4695825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0" y="4876800"/>
            <a:ext cx="171450" cy="171450"/>
          </a:xfrm>
          <a:prstGeom prst="rect">
            <a:avLst/>
          </a:prstGeom>
        </p:spPr>
      </p:pic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4152900" y="48101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接口脱敏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4152900" y="4972050"/>
            <a:ext cx="800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密钥不回显明文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3771900" y="5457825"/>
            <a:ext cx="7581900" cy="581025"/>
          </a:xfrm>
          <a:prstGeom prst="roundRect">
            <a:avLst>
              <a:gd name="adj" fmla="val 1639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78" name="任意多边形 77"/>
          <p:cNvSpPr/>
          <p:nvPr/>
        </p:nvSpPr>
        <p:spPr>
          <a:xfrm>
            <a:off x="3771900" y="5457825"/>
            <a:ext cx="7581900" cy="581025"/>
          </a:xfrm>
          <a:custGeom>
            <a:avLst/>
            <a:gdLst/>
            <a:ahLst/>
            <a:cxnLst/>
            <a:pathLst>
              <a:path w="796" h="6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5"/>
                </a:lnTo>
                <a:cubicBezTo>
                  <a:pt x="4" y="58"/>
                  <a:pt x="6" y="60"/>
                  <a:pt x="9" y="61"/>
                </a:cubicBezTo>
                <a:cubicBezTo>
                  <a:pt x="4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3981450" y="56102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满足公网部署的安全基线：防爆破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防注入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防越权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全程审计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10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 descr="&lt;Slide style={{ background: '#F7F9FC', padding: '0px', position: 'relative', width: '100%', height: '100%' }}&gt;&#10;    {/* 中央大数字 03（居左差异版） */}&#10;    &lt;Box style={{&#10;        position: 'absolute', left: 96, top: 60,&#10;        width: 1088, height: 600,&#10;        justifyContent: 'center', alignItems: 'flex-start',&#10;        flexDirection: 'column', paddingLeft: 40,&#10;    }}&gt;&#10;        &lt;Text style={{&#10;            fontSize: 200, fontWeight: 'bold', color: '#0E3F8C',&#10;            lineHeight: 1, opacity: 0.9, letterSpacing: 8,&#10;        }}&gt;&#10;            03&#10;        &lt;/Text&gt;&#10;        &lt;Box style={{ width: 480, height: 3, background: '#3D7BD9', marginTop: 28, marginBottom: 28 }} /&gt;&#10;        &lt;Text style={{ fontSize: 40, color: '#0E3F8C', fontWeight: 'bold', marginBottom: 12 }}&gt;&#10;            创新 · 验证 · 展望&#10;        &lt;/Text&gt;&#10;        &lt;Text style={{ fontSize: 18, color: '#4A5568', marginTop: 8 }}&gt;&#10;            六大创新点 · 44 项自动化测试 · 真实群联调 · 应用前景&#10;        &lt;/Text&gt;&#10;    &lt;/Box&gt;&#10;&#10;    {/* 左下角标 */}&#10;    &lt;Text style={{&#10;        position: 'absolute', left: 60, bottom: 40,&#10;        fontSize: 14, color: '#8B97A8',&#10;    }}&gt;&#10;        Part 03 · 创新、验证与展望&#10;    &lt;/Text&gt;&#10;    {/* 右下页码 */}&#10;    &lt;Text style={{&#10;        position: 'absolute', right: 60, bottom: 40,&#10;        fontSize: 14, color: '#8B97A8',&#10;    }}&gt;&#10;        11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83" name="矩形 82"/>
          <p:cNvSpPr/>
          <p:nvPr/>
        </p:nvSpPr>
        <p:spPr>
          <a:xfrm>
            <a:off x="1295400" y="4133850"/>
            <a:ext cx="45720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1295400" y="4429125"/>
            <a:ext cx="307657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创新</a:t>
            </a:r>
            <a:r>
              <a:rPr lang="en-US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r>
              <a:rPr lang="en-US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展望</a:t>
            </a:r>
            <a:endParaRPr lang="zh-CN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1295400" y="5076825"/>
            <a:ext cx="4114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六大创新点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44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项自动化测试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真实群联调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应用前景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1295400" y="1581150"/>
            <a:ext cx="2505075" cy="2286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 spc="600">
                <a:solidFill>
                  <a:srgbClr val="0E3F8C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5000" b="1" spc="600">
              <a:solidFill>
                <a:srgbClr val="0E3F8C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571500" y="6315075"/>
            <a:ext cx="1638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03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创新、验证与展望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11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3 · 创新&lt;/Text&gt;&#10;        &lt;Text style={{ fontSize: 32, color: '#0E3F8C', fontWeight: 'bold', marginTop: 6 }}&gt;&#10;            项目创新点&#10;        &lt;/Text&gt;&#10;    &lt;/Box&gt;&#10;&#10;    {/* 巨型数字锚点 + 洞察 */}&#10;    &lt;Box style={{&#10;        position: 'absolute', left: 60, top: 120,&#10;        width: 300, height: 520,&#10;        flexDirection: 'column', justifyContent: 'center',&#10;    }}&gt;&#10;        &lt;Text style={{ fontSize: 120, color: '#1E4FA8', fontWeight: 'bold', lineHeight: 1 }}&gt;&#10;            6&#10;        &lt;/Text&gt;&#10;        &lt;Text style={{ fontSize: 22, color: '#0E3F8C', fontWeight: 'bold', marginTop: 8 }}&gt;&#10;            大创新点&#10;        &lt;/Text&gt;&#10;        &lt;Box style={{ width: 60, height: 3, background: '#3D7BD9', marginTop: 16, marginBottom: 16 }} /&gt;&#10;        &lt;Text style={{ fontSize: 15, color: '#4A5568', lineHeight: 1.7 }}&gt;&#10;            围绕「识别、触达、归档、架构、隔离、场景」六个维度构建完整闭环&#10;        &lt;/Text&gt;&#10;    &lt;/Box&gt;&#10;&#10;    {/* 右侧创新矩阵 */}&#10;    &lt;Box style={{&#10;        position: 'absolute', left: 400, top: 120,&#10;        width: 820, height: 520,&#10;        flexDirection: 'column', gap: 12,&#10;    }}&gt;&#10;        {[&#10;            ['双重判定', '关键词快速筛选 + 大模型精准判定的两级架构，兼顾速度、准确率与 AI 成本'],&#10;            ['毫秒级推送', 'SSE 服务端主动推送，新消息/新提醒 2 秒内到达，无需手动刷新'],&#10;            ['多媒体自动归档', '图片/文件/语音三路 AI 识别保存，形成可检索的班级资料库'],&#10;            ['双平台对齐', 'QQ 推送 + 钉钉轮询统一抽象为适配器，媒体与判定管线完全复用'],&#10;            ['多租户动态接入', '每账号独立绑定/数据/媒体隔离，新绑定 15 秒自动接入，零重启'],&#10;            ['校园场景词库', '内置 16 类 288 校园专属风险词，新注册自动初始化，贴合实际使用'],&#10;        ].map(([t, d], i) =&gt; (&#10;            &lt;Box key={i} style={{&#10;                flexDirection: 'row', gap: 18, alignItems: 'flex-start',&#10;                background: i % 2 === 0 ? '#F0F5FC' : '#F7F9FC',&#10;                borderRadius: 10, padding: '12px 20px',&#10;                border: '1px solid #E5E7EB',&#10;            }}&gt;&#10;                &lt;Box style={{&#10;                    width: 44, height: 44, borderRadius: 8,&#10;                    background: i === 0 ? '#D9534F' : (i === 1 ? '#FFC107' : '#1E4FA8'),&#10;                    justifyContent: 'center', alignItems: 'center', flexShrink: 0,&#10;                }}&gt;&#10;                    &lt;Text style={{ fontSize: 20, color: i === 1 ? '#1A2230' : '#FFFFFF', fontWeight: 'bold' }}&gt;&#10;                        {i + 1}&#10;                    &lt;/Text&gt;&#10;                &lt;/Box&gt;&#10;                &lt;Box style={{ flex: 1 }}&gt;&#10;                    &lt;Text style={{ fontSize: 18, color: '#1A2230', fontWeight: 'bold' }}&gt;{t}&lt;/Text&gt;&#10;                    &lt;Text style={{ fontSize: 14, color: '#4A5568', marginTop: 4, lineHeight: 1.6 }}&gt;{d}&lt;/Text&gt;&#10;                &lt;/Box&gt;&#10;            &lt;/Box&gt;&#10;        ))}&#10;    &lt;/Box&gt;&#10;&#10;    {/* 页码 */}&#10;    &lt;Text style={{ position: 'absolute', right: 60, bottom: 40, fontSize: 14, color: '#8B97A8' }}&gt;&#10;        12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91" name="矩形 9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03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创新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项目创新点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571500" y="2305050"/>
            <a:ext cx="2857500" cy="1371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90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571500" y="3752850"/>
            <a:ext cx="2857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大创新点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71500" y="4162425"/>
            <a:ext cx="5715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571500" y="4343400"/>
            <a:ext cx="2857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围绕「识别、触达、归档、架构、隔离、场景」六个维度构建完整闭环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3810000" y="1143000"/>
            <a:ext cx="7810500" cy="733425"/>
          </a:xfrm>
          <a:prstGeom prst="roundRect">
            <a:avLst>
              <a:gd name="adj" fmla="val 12987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9" name="圆角矩形 98"/>
          <p:cNvSpPr/>
          <p:nvPr/>
        </p:nvSpPr>
        <p:spPr>
          <a:xfrm>
            <a:off x="4000500" y="1257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534F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4152900" y="1352550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4591050" y="1257300"/>
            <a:ext cx="6838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双重判定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4591050" y="1504950"/>
            <a:ext cx="6838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关键词快速筛选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大模型精准判定的两级架构，兼顾速度、准确率与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成本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3810000" y="1990725"/>
            <a:ext cx="7810500" cy="733425"/>
          </a:xfrm>
          <a:prstGeom prst="roundRect">
            <a:avLst>
              <a:gd name="adj" fmla="val 1298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4" name="圆角矩形 103"/>
          <p:cNvSpPr/>
          <p:nvPr/>
        </p:nvSpPr>
        <p:spPr>
          <a:xfrm>
            <a:off x="4000500" y="21050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C107"/>
          </a:solidFill>
        </p:spPr>
        <p:txBody>
          <a:bodyPr/>
          <a:p/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4152900" y="2200275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4591050" y="2105025"/>
            <a:ext cx="6838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毫秒级推送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4591050" y="2352675"/>
            <a:ext cx="6838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服务端主动推送，新消息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新提醒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秒内到达，无需手动刷新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3810000" y="2838450"/>
            <a:ext cx="7810500" cy="733425"/>
          </a:xfrm>
          <a:prstGeom prst="roundRect">
            <a:avLst>
              <a:gd name="adj" fmla="val 12987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9" name="圆角矩形 108"/>
          <p:cNvSpPr/>
          <p:nvPr/>
        </p:nvSpPr>
        <p:spPr>
          <a:xfrm>
            <a:off x="4000500" y="29527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4152900" y="3048000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4591050" y="2952750"/>
            <a:ext cx="6838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多媒体自动归档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4591050" y="3200400"/>
            <a:ext cx="6838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图片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语音三路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识别保存，形成可检索的班级资料库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3810000" y="3686175"/>
            <a:ext cx="7810500" cy="733425"/>
          </a:xfrm>
          <a:prstGeom prst="roundRect">
            <a:avLst>
              <a:gd name="adj" fmla="val 1298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4" name="圆角矩形 113"/>
          <p:cNvSpPr/>
          <p:nvPr/>
        </p:nvSpPr>
        <p:spPr>
          <a:xfrm>
            <a:off x="4000500" y="38004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4152900" y="3895725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4591050" y="3800475"/>
            <a:ext cx="6838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双平台对齐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4591050" y="4048125"/>
            <a:ext cx="6838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QQ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推送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钉钉轮询统一抽象为适配器，媒体与判定管线完全复用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3810000" y="4533900"/>
            <a:ext cx="7810500" cy="733425"/>
          </a:xfrm>
          <a:prstGeom prst="roundRect">
            <a:avLst>
              <a:gd name="adj" fmla="val 12987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9" name="圆角矩形 118"/>
          <p:cNvSpPr/>
          <p:nvPr/>
        </p:nvSpPr>
        <p:spPr>
          <a:xfrm>
            <a:off x="4000500" y="4648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4152900" y="4743450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591050" y="4648200"/>
            <a:ext cx="6838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多租户动态接入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4591050" y="4895850"/>
            <a:ext cx="6838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每账号独立绑定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媒体隔离，新绑定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秒自动接入，零重启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3810000" y="5381625"/>
            <a:ext cx="7810500" cy="733425"/>
          </a:xfrm>
          <a:prstGeom prst="roundRect">
            <a:avLst>
              <a:gd name="adj" fmla="val 1298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4" name="圆角矩形 123"/>
          <p:cNvSpPr/>
          <p:nvPr/>
        </p:nvSpPr>
        <p:spPr>
          <a:xfrm>
            <a:off x="4000500" y="54959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4152900" y="5591175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4591050" y="5495925"/>
            <a:ext cx="6838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校园场景词库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4591050" y="5743575"/>
            <a:ext cx="6838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内置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288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校园专属风险词，新注册自动初始化，贴合实际使用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12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3 · 验证&lt;/Text&gt;&#10;        &lt;Text style={{ fontSize: 32, color: '#0E3F8C', fontWeight: 'bold', marginTop: 6 }}&gt;&#10;            测试与验证：44 项自动化 + 真实群联调&#10;        &lt;/Text&gt;&#10;    &lt;/Box&gt;&#10;&#10;    {/* 巨型数字锚点 */}&#10;    &lt;Box style={{&#10;        position: 'absolute', left: 60, top: 130,&#10;        width: 360, height: 520,&#10;        flexDirection: 'column', justifyContent: 'center',&#10;        background: 'linear-gradient(160deg, #0E3F8C 0%, #1E4FA8 100%)',&#10;        borderRadius: 16, padding: '0 48px',&#10;    }}&gt;&#10;        &lt;Text style={{ fontSize: 110, color: '#FFFFFF', fontWeight: 'bold', lineHeight: 1 }}&gt;&#10;            44&#10;        &lt;/Text&gt;&#10;        &lt;Text style={{ fontSize: 24, color: '#B8CCF0', fontWeight: 'bold', marginTop: 12 }}&gt;&#10;            项自动化检查&#10;        &lt;/Text&gt;&#10;        &lt;Text style={{ fontSize: 16, color: '#FFFFFF', opacity: 0.85, marginTop: 16, lineHeight: 1.6 }}&gt;&#10;            全部通过，覆盖入库去重 / 关键词 / AI 判定 / 日报 / Web API / 多租户隔离 / 安全&#10;        &lt;/Text&gt;&#10;        &lt;Box style={{ width: 80, height: 3, background: '#FFFFFF', opacity: 0.4, marginTop: 20 }} /&gt;&#10;        &lt;Text style={{ fontSize: 16, color: '#B8CCF0', marginTop: 16 }}&gt;&#10;            + 真实 QQ 群端到端联调&#10;        &lt;/Text&gt;&#10;    &lt;/Box&gt;&#10;&#10;    {/* 右侧验证清单表 */}&#10;    &lt;Box style={{&#10;        position: 'absolute', left: 460, top: 130,&#10;        width: 760, height: 520,&#10;        flexDirection: 'column', gap: 8,&#10;    }}&gt;&#10;        {[&#10;            ['QQ 凭证与网关', '真实 AppID/Secret 获取令牌，WebSocket 收到 READY 在线', '✅'],&#10;            ['消息实时入库', '群里实际发言 → 数据库消息数即时增长', '✅'],&#10;            ['AI 重要性判定', '着火→high / 考试通知→medium / 闲聊→忽略', '✅'],&#10;            ['SSE 实时推送', '插入新提醒 → 2 秒内浏览器收到 alert 事件', '✅'],&#10;            ['文件与语音识别', '真实图片经视觉模型识别；语音转写链路全通', '✅'],&#10;            ['安全加固实测', '错误密码 5 次锁定 429 / 跨站 POST 403 / 改密旧 token 失效', '✅'],&#10;            ['多租户隔离', '双账号端到端：绑定/数据/媒体互不可见，越权访问 400', '✅'],&#10;            ['动态实例接入', '新账号绑定机器人 15 秒自动接入独立连接并收消息', '✅'],&#10;            ['新账号完整流程', '注册→自动登录→总览/消息/文件/报告全部 200', '✅'],&#10;        ].map(([k, v, ok], i) =&gt; (&#10;            &lt;Box key={i} style={{&#10;                flexDirection: 'row', gap: 16, alignItems: 'center',&#10;                background: i % 2 === 0 ? '#F0F5FC' : '#F7F9FC',&#10;                borderRadius: 10, padding: '9px 18px',&#10;                border: '1px solid #E5E7EB',&#10;            }}&gt;&#10;                &lt;Box style={{ width: 140, flexShrink: 0 }}&gt;&#10;                    &lt;Text style={{ fontSize: 14, color: '#0E3F8C', fontWeight: 'bold' }}&gt;{k}&lt;/Text&gt;&#10;                &lt;/Box&gt;&#10;                &lt;Box style={{ flex: 1 }}&gt;&#10;                    &lt;Text style={{ fontSize: 13, color: '#4A5568', lineHeight: 1.4 }}&gt;{v}&lt;/Text&gt;&#10;                &lt;/Box&gt;&#10;                &lt;Text style={{ fontSize: 17, color: '#1E4FA8', fontWeight: 'bold', width: 28, textAlign: 'center' }}&gt;&#10;                    {ok}&#10;                &lt;/Text&gt;&#10;            &lt;/Box&gt;&#10;        ))}&#10;        &lt;Box style={{&#10;            background: '#E8EFF8', borderRadius: 10, padding: '11px 18px',&#10;            borderLeft: '4px solid #1E4FA8',&#10;        }}&gt;&#10;            &lt;Text style={{ fontSize: 13, color: '#0E3F8C', fontWeight: 'bold', lineHeight: 1.5 }}&gt;&#10;                结论：系统真实可用、工程完整 —— 不是概念演示，而是可上线的完整产品&#10;            &lt;/Text&gt;&#10;        &lt;/Box&gt;&#10;    &lt;/Box&gt;&#10;&#10;    {/* 页码 */}&#10;    &lt;Text style={{ position: 'absolute', right: 60, bottom: 40, fontSize: 14, color: '#8B97A8' }}&gt;&#10;        13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1" name="矩形 13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03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测试与验证：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44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项自动化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真实群联调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571500" y="1238250"/>
            <a:ext cx="3429000" cy="4953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0E3F8C"/>
              </a:gs>
              <a:gs pos="100000">
                <a:srgbClr val="1E4FA8"/>
              </a:gs>
            </a:gsLst>
            <a:lin ang="4200000" scaled="1"/>
          </a:gradFill>
        </p:spPr>
        <p:txBody>
          <a:bodyPr/>
          <a:p/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1028700" y="2095500"/>
            <a:ext cx="2514600" cy="1257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44</a:t>
            </a:r>
            <a:endParaRPr lang="en-US" sz="8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1028700" y="3467100"/>
            <a:ext cx="2514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项自动化检查</a:t>
            </a:r>
            <a:endParaRPr lang="zh-CN" sz="1800" b="1">
              <a:solidFill>
                <a:srgbClr val="B8CC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1028700" y="5153025"/>
            <a:ext cx="2514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200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真实</a:t>
            </a:r>
            <a:r>
              <a:rPr lang="en-US" sz="1200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 QQ </a:t>
            </a:r>
            <a:r>
              <a:rPr lang="zh-CN" sz="1200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群端到端联调</a:t>
            </a:r>
            <a:endParaRPr lang="zh-CN" sz="1200">
              <a:solidFill>
                <a:srgbClr val="B8CC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028700" y="3895725"/>
            <a:ext cx="25146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全部通过，覆盖入库去重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AI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日报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Web API /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多租户隔离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1028700" y="4972050"/>
            <a:ext cx="762000" cy="28575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/>
          <a:p/>
        </p:txBody>
      </p:sp>
      <p:sp>
        <p:nvSpPr>
          <p:cNvPr id="140" name="圆角矩形 139"/>
          <p:cNvSpPr/>
          <p:nvPr/>
        </p:nvSpPr>
        <p:spPr>
          <a:xfrm>
            <a:off x="4381500" y="1238250"/>
            <a:ext cx="7239000" cy="381000"/>
          </a:xfrm>
          <a:prstGeom prst="roundRect">
            <a:avLst>
              <a:gd name="adj" fmla="val 25000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4552950" y="13525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QQ </a:t>
            </a: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凭证与网关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6038850" y="132397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真实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AppID/Secret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获取令牌，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WebSocket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收到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READY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在线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11182350" y="1333500"/>
            <a:ext cx="2667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4381500" y="1695450"/>
            <a:ext cx="7239000" cy="38100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4552950" y="18097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消息实时入库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6038850" y="178117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群里实际发言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数据库消息数即时增长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11182350" y="1790700"/>
            <a:ext cx="2667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4381500" y="2152650"/>
            <a:ext cx="7239000" cy="381000"/>
          </a:xfrm>
          <a:prstGeom prst="roundRect">
            <a:avLst>
              <a:gd name="adj" fmla="val 25000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4552950" y="22669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重要性判定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6038850" y="223837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着火→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high /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考试通知→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medium /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闲聊→忽略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1182350" y="2247900"/>
            <a:ext cx="2667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4381500" y="2609850"/>
            <a:ext cx="7239000" cy="38100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4552950" y="27241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实时推送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6038850" y="269557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插入新提醒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2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秒内浏览器收到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alert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事件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1182350" y="2705100"/>
            <a:ext cx="2667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4381500" y="3067050"/>
            <a:ext cx="7239000" cy="381000"/>
          </a:xfrm>
          <a:prstGeom prst="roundRect">
            <a:avLst>
              <a:gd name="adj" fmla="val 25000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4552950" y="31813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文件与语音识别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6038850" y="315277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真实图片经视觉模型识别；语音转写链路全通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11182350" y="3162300"/>
            <a:ext cx="2667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4381500" y="3524250"/>
            <a:ext cx="7239000" cy="38100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4552950" y="36385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安全加固实测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6038850" y="360997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错误密码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次锁定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429 /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跨站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POST 403 /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改密旧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token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失效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11182350" y="3619500"/>
            <a:ext cx="2667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圆角矩形 163"/>
          <p:cNvSpPr/>
          <p:nvPr/>
        </p:nvSpPr>
        <p:spPr>
          <a:xfrm>
            <a:off x="4381500" y="3981450"/>
            <a:ext cx="7239000" cy="381000"/>
          </a:xfrm>
          <a:prstGeom prst="roundRect">
            <a:avLst>
              <a:gd name="adj" fmla="val 25000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4552950" y="40957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多租户隔离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6038850" y="406717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双账号端到端：绑定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媒体互不可见，越权访问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400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11182350" y="4076700"/>
            <a:ext cx="2667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4381500" y="4438650"/>
            <a:ext cx="7239000" cy="38100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4552950" y="45529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动态实例接入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6038850" y="452437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新账号绑定机器人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秒自动接入独立连接并收消息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1182350" y="4533900"/>
            <a:ext cx="2667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圆角矩形 171"/>
          <p:cNvSpPr/>
          <p:nvPr/>
        </p:nvSpPr>
        <p:spPr>
          <a:xfrm>
            <a:off x="4381500" y="4895850"/>
            <a:ext cx="7239000" cy="381000"/>
          </a:xfrm>
          <a:prstGeom prst="roundRect">
            <a:avLst>
              <a:gd name="adj" fmla="val 25000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4552950" y="50101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新账号完整流程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038850" y="498157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注册→自动登录→总览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消息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报告全部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200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11182350" y="4991100"/>
            <a:ext cx="2667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圆角矩形 175"/>
          <p:cNvSpPr/>
          <p:nvPr/>
        </p:nvSpPr>
        <p:spPr>
          <a:xfrm>
            <a:off x="4419600" y="5353050"/>
            <a:ext cx="7239000" cy="438150"/>
          </a:xfrm>
          <a:prstGeom prst="roundRect">
            <a:avLst>
              <a:gd name="adj" fmla="val 21739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77" name="任意多边形 176"/>
          <p:cNvSpPr/>
          <p:nvPr/>
        </p:nvSpPr>
        <p:spPr>
          <a:xfrm>
            <a:off x="4419600" y="5353050"/>
            <a:ext cx="7239000" cy="438150"/>
          </a:xfrm>
          <a:custGeom>
            <a:avLst/>
            <a:gdLst/>
            <a:ahLst/>
            <a:cxnLst/>
            <a:pathLst>
              <a:path w="760" h="4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0"/>
                </a:lnTo>
                <a:cubicBezTo>
                  <a:pt x="4" y="43"/>
                  <a:pt x="6" y="45"/>
                  <a:pt x="9" y="46"/>
                </a:cubicBezTo>
                <a:cubicBezTo>
                  <a:pt x="4" y="45"/>
                  <a:pt x="0" y="41"/>
                  <a:pt x="0" y="3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4591050" y="5457825"/>
            <a:ext cx="685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结论：系统真实可用、工程完整</a:t>
            </a:r>
            <a:r>
              <a:rPr lang="en-US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不是概念演示，而是可上线的完整产品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" descr="&lt;Slide style={{ background: '#0E3F8C', padding: '0px', position: 'relative', width: '100%', height: '100%' }}&gt;&#10;    {/* 顶部装饰线 */}&#10;    &lt;Box style={{ position: 'absolute', top: 0, left: 0, width: 1280, height: 6, background: '#3D7BD9' }} /&gt;&#10;&#10;    {/* 中央内容 */}&#10;    &lt;Box style={{&#10;        position: 'absolute', left: 0, top: 0,&#10;        width: 1280, height: 720,&#10;        justifyContent: 'center', alignItems: 'center',&#10;        flexDirection: 'column', padding: '0 120px', gap: 0,&#10;    }}&gt;&#10;        &lt;Text style={{&#10;            fontSize: 44, color: '#FFFFFF', fontWeight: 'bold',&#10;            textAlign: 'center', lineHeight: 1.5, letterSpacing: 2,&#10;        }}&gt;&#10;            「让每一句重要的话，都不被淹没」&#10;        &lt;/Text&gt;&#10;&#10;        &lt;Box style={{ width: 90, height: 3, background: '#3D7BD9', marginTop: 40, marginBottom: 40 }} /&gt;&#10;&#10;        &lt;Box style={{ flexDirection: 'row', gap: 48, marginBottom: 48 }}&gt;&#10;            &lt;Box style={{ flexDirection: 'column', alignItems: 'center', gap: 10 }}&gt;&#10;                &lt;FAIcon name='plus' style={{ fill: '#3D7BD9', width: 28, height: 28 }} /&gt;&#10;                &lt;Text style={{ fontSize: 16, color: '#FFFFFF', opacity: 0.85 }}&gt;接入更多平台&lt;/Text&gt;&#10;            &lt;/Box&gt;&#10;            &lt;Box style={{ flexDirection: 'column', alignItems: 'center', gap: 10 }}&gt;&#10;                &lt;FAIcon name='sliders-h' style={{ fill: '#3D7BD9', width: 28, height: 28 }} /&gt;&#10;                &lt;Text style={{ fontSize: 16, color: '#FFFFFF', opacity: 0.85 }}&gt;自定义监控策略&lt;/Text&gt;&#10;            &lt;/Box&gt;&#10;            &lt;Box style={{ flexDirection: 'column', alignItems: 'center', gap: 10 }}&gt;&#10;                &lt;FAIcon name='chart-line' style={{ fill: '#3D7BD9', width: 28, height: 28 }} /&gt;&#10;                &lt;Text style={{ fontSize: 16, color: '#FFFFFF', opacity: 0.85 }}&gt;周报与趋势分析&lt;/Text&gt;&#10;            &lt;/Box&gt;&#10;            &lt;Box style={{ flexDirection: 'column', alignItems: 'center', gap: 10 }}&gt;&#10;                &lt;FAIcon name='search' style={{ fill: '#3D7BD9', width: 28, height: 28 }} /&gt;&#10;                &lt;Text style={{ fontSize: 16, color: '#FFFFFF', opacity: 0.85 }}&gt;文件库智能问答&lt;/Text&gt;&#10;            &lt;/Box&gt;&#10;        &lt;/Box&gt;&#10;&#10;        &lt;Text style={{ fontSize: 18, color: '#B8CCF0', textAlign: 'center', lineHeight: 1.8 }}&gt;&#10;            展望：从班级群聊监控，走向校园信息智能管理的完整平台&#10;        &lt;/Text&gt;&#10;    &lt;/Box&gt;&#10;&#10;    {/* 左下角标 */}&#10;    &lt;Text style={{&#10;        position: 'absolute', left: 60, bottom: 40,&#10;        fontSize: 14, color: '#8B97A8',&#10;    }}&gt;&#10;        聊天智能分析助手 · ChatMonitor&#10;    &lt;/Text&gt;&#10;    {/* 右下页码 */}&#10;    &lt;Text style={{&#10;        position: 'absolute', right: 60, bottom: 40,&#10;        fontSize: 14, color: '#8B97A8',&#10;    }}&gt;&#10;        14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1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82" name="矩形 18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2590800" y="1962150"/>
            <a:ext cx="7010400" cy="7620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3300" b="1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「让每一句重要的话，都不被淹没」</a:t>
            </a:r>
            <a:endParaRPr lang="zh-CN" sz="3300" b="1" spc="1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5667375" y="3105150"/>
            <a:ext cx="85725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pic>
        <p:nvPicPr>
          <p:cNvPr id="185" name="图片 18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76650" y="3514725"/>
            <a:ext cx="266700" cy="266700"/>
          </a:xfrm>
          <a:prstGeom prst="rect">
            <a:avLst/>
          </a:prstGeom>
        </p:spPr>
      </p:pic>
      <p:pic>
        <p:nvPicPr>
          <p:cNvPr id="186" name="图片 18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4450" y="3514725"/>
            <a:ext cx="266700" cy="266700"/>
          </a:xfrm>
          <a:prstGeom prst="rect">
            <a:avLst/>
          </a:prstGeom>
        </p:spPr>
      </p:pic>
      <p:pic>
        <p:nvPicPr>
          <p:cNvPr id="187" name="图片 18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8450" y="3514725"/>
            <a:ext cx="266700" cy="266700"/>
          </a:xfrm>
          <a:prstGeom prst="rect">
            <a:avLst/>
          </a:prstGeom>
        </p:spPr>
      </p:pic>
      <p:pic>
        <p:nvPicPr>
          <p:cNvPr id="188" name="图片 18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2450" y="3514725"/>
            <a:ext cx="266700" cy="266700"/>
          </a:xfrm>
          <a:prstGeom prst="rect">
            <a:avLst/>
          </a:prstGeom>
        </p:spPr>
      </p:pic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3352800" y="38766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接入更多平台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4724400" y="38766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自定义监控策略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6248400" y="38766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周报与趋势分析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7772400" y="38766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文件库智能问答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571500" y="6315075"/>
            <a:ext cx="1990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聊天智能分析助手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ChatMonitor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14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2558</Words>
  <Application>WPS 演示</Application>
  <PresentationFormat/>
  <Paragraphs>363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WPS_1684309040</cp:lastModifiedBy>
  <cp:revision>2</cp:revision>
  <dcterms:created xsi:type="dcterms:W3CDTF">2026-08-27T13:41:12Z</dcterms:created>
  <dcterms:modified xsi:type="dcterms:W3CDTF">2026-08-27T13:41:28Z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3C865E30723D4880862834ECE1C22693_12</vt:lpwstr>
  </property>
</Properties>
</file>